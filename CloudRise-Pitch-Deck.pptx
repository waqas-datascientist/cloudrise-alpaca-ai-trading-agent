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954acd1aa043f6" /><Relationship Type="http://schemas.openxmlformats.org/officeDocument/2006/relationships/extended-properties" Target="/docProps/app.xml" Id="Ra24b0091b766452d" /><Relationship Type="http://schemas.openxmlformats.org/officeDocument/2006/relationships/officeDocument" Target="/ppt/presentation.xml" Id="R3568cd1b03a442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826524df0a492b"/>
  </p:sldMasterIdLst>
  <p:notesMasterIdLst>
    <p:notesMasterId xmlns:r="http://schemas.openxmlformats.org/officeDocument/2006/relationships" r:id="R6bd0c8fe5305454d"/>
  </p:notesMasterIdLst>
  <p:sldIdLst>
    <p:sldId xmlns:r="http://schemas.openxmlformats.org/officeDocument/2006/relationships" id="256" r:id="R008e2416e65f4b83"/>
    <p:sldId xmlns:r="http://schemas.openxmlformats.org/officeDocument/2006/relationships" id="257" r:id="Re5fb190927354403"/>
    <p:sldId xmlns:r="http://schemas.openxmlformats.org/officeDocument/2006/relationships" id="258" r:id="R3239979bd92b47d1"/>
    <p:sldId xmlns:r="http://schemas.openxmlformats.org/officeDocument/2006/relationships" id="259" r:id="R0e703ddc992e45cb"/>
    <p:sldId xmlns:r="http://schemas.openxmlformats.org/officeDocument/2006/relationships" id="260" r:id="R97e67e53032c419d"/>
    <p:sldId xmlns:r="http://schemas.openxmlformats.org/officeDocument/2006/relationships" id="261" r:id="R279e2871fadf4ec9"/>
    <p:sldId xmlns:r="http://schemas.openxmlformats.org/officeDocument/2006/relationships" id="262" r:id="R75ffbfdad8274294"/>
    <p:sldId xmlns:r="http://schemas.openxmlformats.org/officeDocument/2006/relationships" id="263" r:id="R0b26ef3c23204274"/>
    <p:sldId xmlns:r="http://schemas.openxmlformats.org/officeDocument/2006/relationships" id="264" r:id="Re567c6696a0f48da"/>
    <p:sldId xmlns:r="http://schemas.openxmlformats.org/officeDocument/2006/relationships" id="265" r:id="R1220645e3bef46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fc942b83434417" /><Relationship Type="http://schemas.openxmlformats.org/officeDocument/2006/relationships/slideMaster" Target="/ppt/slideMasters/slideMaster1.xml" Id="Rfd826524df0a492b" /><Relationship Type="http://schemas.openxmlformats.org/officeDocument/2006/relationships/notesMaster" Target="/ppt/notesMasters/notesMaster1.xml" Id="R6bd0c8fe5305454d" /><Relationship Type="http://schemas.openxmlformats.org/officeDocument/2006/relationships/presProps" Target="/ppt/presProps.xml" Id="Rbf542bd563d64659" /><Relationship Type="http://schemas.openxmlformats.org/officeDocument/2006/relationships/tableStyles" Target="/ppt/tableStyles.xml" Id="Rcc659073b6294bd7" /><Relationship Type="http://schemas.openxmlformats.org/officeDocument/2006/relationships/slide" Target="/ppt/slides/slide1.xml" Id="R008e2416e65f4b83" /><Relationship Type="http://schemas.openxmlformats.org/officeDocument/2006/relationships/slide" Target="/ppt/slides/slide2.xml" Id="Re5fb190927354403" /><Relationship Type="http://schemas.openxmlformats.org/officeDocument/2006/relationships/slide" Target="/ppt/slides/slide3.xml" Id="R3239979bd92b47d1" /><Relationship Type="http://schemas.openxmlformats.org/officeDocument/2006/relationships/slide" Target="/ppt/slides/slide4.xml" Id="R0e703ddc992e45cb" /><Relationship Type="http://schemas.openxmlformats.org/officeDocument/2006/relationships/slide" Target="/ppt/slides/slide5.xml" Id="R97e67e53032c419d" /><Relationship Type="http://schemas.openxmlformats.org/officeDocument/2006/relationships/slide" Target="/ppt/slides/slide6.xml" Id="R279e2871fadf4ec9" /><Relationship Type="http://schemas.openxmlformats.org/officeDocument/2006/relationships/slide" Target="/ppt/slides/slide7.xml" Id="R75ffbfdad8274294" /><Relationship Type="http://schemas.openxmlformats.org/officeDocument/2006/relationships/slide" Target="/ppt/slides/slide8.xml" Id="R0b26ef3c23204274" /><Relationship Type="http://schemas.openxmlformats.org/officeDocument/2006/relationships/slide" Target="/ppt/slides/slide9.xml" Id="Re567c6696a0f48da" /><Relationship Type="http://schemas.openxmlformats.org/officeDocument/2006/relationships/slide" Target="/ppt/slides/slide10.xml" Id="R1220645e3bef46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35ea1e55904b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dad63d5cd34698" /><Relationship Type="http://schemas.openxmlformats.org/officeDocument/2006/relationships/notesMaster" Target="/ppt/notesMasters/notesMaster1.xml" Id="R501bdd7a23e9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8ea130a244fb7" /><Relationship Type="http://schemas.openxmlformats.org/officeDocument/2006/relationships/notesMaster" Target="/ppt/notesMasters/notesMaster1.xml" Id="Rb19cae8d32424f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81eb4d6f734b45" /><Relationship Type="http://schemas.openxmlformats.org/officeDocument/2006/relationships/notesMaster" Target="/ppt/notesMasters/notesMaster1.xml" Id="R60598c39d9be43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9dce378cbe42ea" /><Relationship Type="http://schemas.openxmlformats.org/officeDocument/2006/relationships/notesMaster" Target="/ppt/notesMasters/notesMaster1.xml" Id="R5d1459779fff49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6243e74ba84b03" /><Relationship Type="http://schemas.openxmlformats.org/officeDocument/2006/relationships/notesMaster" Target="/ppt/notesMasters/notesMaster1.xml" Id="Rec7fdb71a3da41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92ff257a9b4e8e" /><Relationship Type="http://schemas.openxmlformats.org/officeDocument/2006/relationships/notesMaster" Target="/ppt/notesMasters/notesMaster1.xml" Id="Re380122bd3a44c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5594a4a411410b" /><Relationship Type="http://schemas.openxmlformats.org/officeDocument/2006/relationships/notesMaster" Target="/ppt/notesMasters/notesMaster1.xml" Id="R4042f02ad64a47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781666f8bf4133" /><Relationship Type="http://schemas.openxmlformats.org/officeDocument/2006/relationships/notesMaster" Target="/ppt/notesMasters/notesMaster1.xml" Id="Rb865e07a026546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c98972cb34fcb" /><Relationship Type="http://schemas.openxmlformats.org/officeDocument/2006/relationships/notesMaster" Target="/ppt/notesMasters/notesMaster1.xml" Id="Rda88fc65808c42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c2ab670df14f4a" /><Relationship Type="http://schemas.openxmlformats.org/officeDocument/2006/relationships/notesMaster" Target="/ppt/notesMasters/notesMaster1.xml" Id="Raab3a6464fc449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separation-of-powers idea; avoid leading with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CloudRise cover artwork (project asset, 2026)</a:t>
            </a:r>
          </a:p>
          <a:p xmlns:a="http://schemas.openxmlformats.org/drawingml/2006/main">
            <a:r>
              <a:t>- https://lablab.ai/ai-hackathons/alpaca-ai-trading-agents-hackathon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design philosophy: research, governance, and execution are separate authorities.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index ETFs and short-horizon signals match the competition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https://lablab.ai/ai-hackathons/alpaca-ai-trading-agents-hackathon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left-to-right and emphasize that each stage has a narrower authority than the prior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https://docs.alpaca.markets/us/docs/alpacas-cli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ensemble is deterministic and explainable. Reversion is a veto-sized vote, not the primary direction engine.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bull call spread as the concrete example. The bearish construction mirrors it with 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https://docs.alpaca.markets/us/v1.1/reference/optionchain</a:t>
            </a:r>
          </a:p>
          <a:p xmlns:a="http://schemas.openxmlformats.org/drawingml/2006/main">
            <a:r>
              <a:t>- https://docs.alpaca.markets/us/v1.4.2/docs/options-level-3-trading</a:t>
            </a:r>
          </a:p>
          <a:p xmlns:a="http://schemas.openxmlformats.org/drawingml/2006/main">
            <a:r>
              <a:t>- https://docs.alpaca.markets/us/reference/postorder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safety innovation: the research layer cannot edit, skip, or override these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CLI satisfies the required developer-tool integration and is forced into paper mode by the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https://docs.alpaca.markets/us/docs/alpacas-cli</a:t>
            </a:r>
          </a:p>
          <a:p xmlns:a="http://schemas.openxmlformats.org/drawingml/2006/main">
            <a:r>
              <a:t>- https://docs.alpaca.markets/us/reference/postorder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this screenshot is the zero-credit demo replay. During judging, switch to paper mode and show the fresh account.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CloudRise local dashboard screenshot (project asset, 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 tension: autonomy is credible when authority is constrained and every action is evidenced.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Generated CloudRise shield artwork (project asset, 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0b33e7cb948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66652f2723435a" /><Relationship Type="http://schemas.openxmlformats.org/officeDocument/2006/relationships/slideLayout" Target="/ppt/slideLayouts/slideLayout1.xml" Id="R6b2b4b2e91a64a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2b4b2e91a64a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b3063a1194605" /><Relationship Type="http://schemas.openxmlformats.org/officeDocument/2006/relationships/image" Target="/ppt/media/image.png" Id="R4721592b00a74ca8" /><Relationship Type="http://schemas.openxmlformats.org/officeDocument/2006/relationships/notesSlide" Target="/ppt/notesSlides/notesSlide1.xml" Id="R41178ff34bc54c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17c20bcdb47f2" /><Relationship Type="http://schemas.openxmlformats.org/officeDocument/2006/relationships/notesSlide" Target="/ppt/notesSlides/notesSlide2.xml" Id="R0ec21f9c1e8941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02fe51534487b" /><Relationship Type="http://schemas.openxmlformats.org/officeDocument/2006/relationships/notesSlide" Target="/ppt/notesSlides/notesSlide3.xml" Id="R566d882364c94c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35ff9c89643a5" /><Relationship Type="http://schemas.openxmlformats.org/officeDocument/2006/relationships/notesSlide" Target="/ppt/notesSlides/notesSlide4.xml" Id="R25992d47bb764e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4537bf6074b11" /><Relationship Type="http://schemas.openxmlformats.org/officeDocument/2006/relationships/notesSlide" Target="/ppt/notesSlides/notesSlide5.xml" Id="R5427126f005c47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5f66867b840a9" /><Relationship Type="http://schemas.openxmlformats.org/officeDocument/2006/relationships/notesSlide" Target="/ppt/notesSlides/notesSlide6.xml" Id="R97d8fce229bb49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0e03492904a24" /><Relationship Type="http://schemas.openxmlformats.org/officeDocument/2006/relationships/notesSlide" Target="/ppt/notesSlides/notesSlide7.xml" Id="Rb4d8b73fd15942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804e5f00143d2" /><Relationship Type="http://schemas.openxmlformats.org/officeDocument/2006/relationships/notesSlide" Target="/ppt/notesSlides/notesSlide8.xml" Id="Rf20ca5dcbe034d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acd12704e4813" /><Relationship Type="http://schemas.openxmlformats.org/officeDocument/2006/relationships/image" Target="/ppt/media/image.jpeg" Id="R9e8d84da25df4977" /><Relationship Type="http://schemas.openxmlformats.org/officeDocument/2006/relationships/notesSlide" Target="/ppt/notesSlides/notesSlide9.xml" Id="R1b32729bc1e647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0b2c42b794cf4" /><Relationship Type="http://schemas.openxmlformats.org/officeDocument/2006/relationships/image" Target="/ppt/media/image2.png" Id="Rc2f3436f4ab54169" /><Relationship Type="http://schemas.openxmlformats.org/officeDocument/2006/relationships/notesSlide" Target="/ppt/notesSlides/notesSlide10.xml" Id="R9515d771af9741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1592b00a74ca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vignette">
            <a:extLst xmlns:a="http://schemas.openxmlformats.org/drawingml/2006/main">
              <a:ext uri="{FF2B5EF4-FFF2-40B4-BE49-F238E27FC236}">
                <a16:creationId xmlns:a16="http://schemas.microsoft.com/office/drawing/2014/main" id="{5FD1696A-6057-4B9F-9059-6C7B1D09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39E7BB1-0C7E-4E4F-A920-F764952C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7E2B2"/>
                </a:solidFill>
              </a:defRPr>
            </a:pPr>
            <a:r>
              <a:rPr sz="1050" b="1" i="0">
                <a:solidFill>
                  <a:srgbClr val="57E2B2"/>
                </a:solidFill>
              </a:rPr>
              <a:t>ALPACA × LABLAB.AI  /  OPTIONS ALPHA AGENTS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696F66D-FECF-4B5A-8434-EC48B7F4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723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3F7F4"/>
                </a:solidFill>
              </a:defRPr>
            </a:pPr>
            <a:r>
              <a:rPr sz="2550" b="1" i="0">
                <a:solidFill>
                  <a:srgbClr val="F3F7F4"/>
                </a:solidFill>
              </a:rPr>
              <a:t>Autonomous options intelligence</a:t>
            </a:r>
          </a:p>
          <a:p xmlns:a="http://schemas.openxmlformats.org/drawingml/2006/main">
            <a:pPr algn="l">
              <a:defRPr sz="2550" b="1" i="0">
                <a:solidFill>
                  <a:srgbClr val="F3F7F4"/>
                </a:solidFill>
              </a:defRPr>
            </a:pPr>
            <a:r>
              <a:rPr sz="2550" b="1" i="0">
                <a:solidFill>
                  <a:srgbClr val="F3F7F4"/>
                </a:solidFill>
              </a:rPr>
              <a:t>with authority separated from reasoning.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1C65F001-F150-4A9F-B684-9B4AAC6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9FF66"/>
                </a:solidFill>
              </a:defRPr>
            </a:pPr>
            <a:r>
              <a:rPr sz="975" b="1" i="0">
                <a:solidFill>
                  <a:srgbClr val="B9FF66"/>
                </a:solidFill>
              </a:rPr>
              <a:t>EXPLAINABLE · DEFINED RISK · PAPER ONLY</a:t>
            </a:r>
          </a:p>
        </p:txBody>
      </p:sp>
    </p:spTree>
    <p:extLst>
      <p:ext uri="{BB962C8B-B14F-4D97-AF65-F5344CB8AC3E}">
        <p14:creationId xmlns:p14="http://schemas.microsoft.com/office/powerpoint/2010/main" val="1536082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2">
            <a:extLst xmlns:a="http://schemas.openxmlformats.org/drawingml/2006/main">
              <a:ext uri="{FF2B5EF4-FFF2-40B4-BE49-F238E27FC236}">
                <a16:creationId xmlns:a16="http://schemas.microsoft.com/office/drawing/2014/main" id="{6D307838-C22F-486C-845D-20BF714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7E2B2"/>
                </a:solidFill>
              </a:defRPr>
            </a:pPr>
            <a:r>
              <a:rPr sz="975" b="1" i="0">
                <a:solidFill>
                  <a:srgbClr val="57E2B2"/>
                </a:solidFill>
              </a:rPr>
              <a:t>THE PROBLEM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F96644F7-C26B-4F34-82BB-EE54904C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DA198"/>
                </a:solidFill>
              </a:defRPr>
            </a:pPr>
            <a:r>
              <a:rPr sz="975" b="1" i="0">
                <a:solidFill>
                  <a:srgbClr val="8DA198"/>
                </a:solidFill>
              </a:rPr>
              <a:t>02</a:t>
            </a:r>
          </a:p>
        </p:txBody>
      </p:sp>
      <p:sp>
        <p:nvSpPr>
          <p:cNvPr id="3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39D48843-D089-4D1E-8FB9-17E3E6D5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3F5E4299-561C-499E-8F24-DBC934E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DA198"/>
                </a:solidFill>
              </a:defRPr>
            </a:pPr>
            <a:r>
              <a:rPr sz="750" b="1" i="0">
                <a:solidFill>
                  <a:srgbClr val="8DA198"/>
                </a:solidFill>
              </a:rPr>
              <a:t>CLOUDRISE  ·  PAPER ONLY</a:t>
            </a:r>
          </a:p>
        </p:txBody>
      </p:sp>
      <p:sp>
        <p:nvSpPr>
          <p:cNvPr id="5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9C5C6A13-CBD4-47F1-843A-47F4AAA7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8334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F3F7F4"/>
                </a:solidFill>
              </a:defRPr>
            </a:pPr>
            <a:r>
              <a:rPr sz="4575" b="1" i="0">
                <a:solidFill>
                  <a:srgbClr val="F3F7F4"/>
                </a:solidFill>
              </a:rPr>
              <a:t>A trading agent should never</a:t>
            </a:r>
          </a:p>
          <a:p xmlns:a="http://schemas.openxmlformats.org/drawingml/2006/main">
            <a:pPr algn="l">
              <a:defRPr sz="4575" b="1" i="0">
                <a:solidFill>
                  <a:srgbClr val="F3F7F4"/>
                </a:solidFill>
              </a:defRPr>
            </a:pPr>
            <a:r>
              <a:rPr sz="4575" b="1" i="0">
                <a:solidFill>
                  <a:srgbClr val="F3F7F4"/>
                </a:solidFill>
              </a:rPr>
              <a:t>grade its own homework.</a:t>
            </a:r>
          </a:p>
        </p:txBody>
      </p:sp>
      <p:sp>
        <p:nvSpPr>
          <p:cNvPr id="6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2895F938-FE09-4D23-A8CB-66A6F645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771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8DA198"/>
                </a:solidFill>
              </a:defRPr>
            </a:pPr>
            <a:r>
              <a:rPr sz="1875" b="0" i="0">
                <a:solidFill>
                  <a:srgbClr val="8DA198"/>
                </a:solidFill>
              </a:rPr>
              <a:t>When the same model invents the thesis, sizes the risk, and authorizes the order, confidence can become permission. CloudRise breaks that loop.</a:t>
            </a:r>
          </a:p>
        </p:txBody>
      </p:sp>
      <p:sp>
        <p:nvSpPr>
          <p:cNvPr id="7" name="separation-line">
            <a:extLst xmlns:a="http://schemas.openxmlformats.org/drawingml/2006/main">
              <a:ext uri="{FF2B5EF4-FFF2-40B4-BE49-F238E27FC236}">
                <a16:creationId xmlns:a16="http://schemas.microsoft.com/office/drawing/2014/main" id="{FC858B70-75F9-4F05-B7E1-F97272D4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search-label">
            <a:extLst xmlns:a="http://schemas.openxmlformats.org/drawingml/2006/main">
              <a:ext uri="{FF2B5EF4-FFF2-40B4-BE49-F238E27FC236}">
                <a16:creationId xmlns:a16="http://schemas.microsoft.com/office/drawing/2014/main" id="{A3225ABB-0D27-4622-BFB8-ABC6C0B5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57E2B2"/>
                </a:solidFill>
              </a:defRPr>
            </a:pPr>
            <a:r>
              <a:rPr sz="2025" b="1" i="0">
                <a:solidFill>
                  <a:srgbClr val="57E2B2"/>
                </a:solidFill>
              </a:rPr>
              <a:t>RESEARCH</a:t>
            </a:r>
          </a:p>
        </p:txBody>
      </p:sp>
      <p:sp>
        <p:nvSpPr>
          <p:cNvPr id="9" name="arrow-one">
            <a:extLst xmlns:a="http://schemas.openxmlformats.org/drawingml/2006/main">
              <a:ext uri="{FF2B5EF4-FFF2-40B4-BE49-F238E27FC236}">
                <a16:creationId xmlns:a16="http://schemas.microsoft.com/office/drawing/2014/main" id="{08EF659A-773B-434A-8007-06C134EC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B9FF66"/>
                </a:solidFill>
              </a:defRPr>
            </a:pPr>
            <a:r>
              <a:rPr sz="2700" b="0" i="0">
                <a:solidFill>
                  <a:srgbClr val="B9FF66"/>
                </a:solidFill>
              </a:rPr>
              <a:t>→</a:t>
            </a:r>
          </a:p>
        </p:txBody>
      </p:sp>
      <p:sp>
        <p:nvSpPr>
          <p:cNvPr id="10" name="governance-label">
            <a:extLst xmlns:a="http://schemas.openxmlformats.org/drawingml/2006/main">
              <a:ext uri="{FF2B5EF4-FFF2-40B4-BE49-F238E27FC236}">
                <a16:creationId xmlns:a16="http://schemas.microsoft.com/office/drawing/2014/main" id="{413B0E7C-6850-43B8-9D68-B999945B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9FF66"/>
                </a:solidFill>
              </a:defRPr>
            </a:pPr>
            <a:r>
              <a:rPr sz="2025" b="1" i="0">
                <a:solidFill>
                  <a:srgbClr val="B9FF66"/>
                </a:solidFill>
              </a:rPr>
              <a:t>GOVERNANCE</a:t>
            </a:r>
          </a:p>
        </p:txBody>
      </p:sp>
      <p:sp>
        <p:nvSpPr>
          <p:cNvPr id="11" name="arrow-two">
            <a:extLst xmlns:a="http://schemas.openxmlformats.org/drawingml/2006/main">
              <a:ext uri="{FF2B5EF4-FFF2-40B4-BE49-F238E27FC236}">
                <a16:creationId xmlns:a16="http://schemas.microsoft.com/office/drawing/2014/main" id="{A318D8F6-2332-4DC7-8A7D-6254F90E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B9FF66"/>
                </a:solidFill>
              </a:defRPr>
            </a:pPr>
            <a:r>
              <a:rPr sz="2700" b="0" i="0">
                <a:solidFill>
                  <a:srgbClr val="B9FF66"/>
                </a:solidFill>
              </a:rPr>
              <a:t>→</a:t>
            </a:r>
          </a:p>
        </p:txBody>
      </p:sp>
      <p:sp>
        <p:nvSpPr>
          <p:cNvPr id="12" name="execution-label">
            <a:extLst xmlns:a="http://schemas.openxmlformats.org/drawingml/2006/main">
              <a:ext uri="{FF2B5EF4-FFF2-40B4-BE49-F238E27FC236}">
                <a16:creationId xmlns:a16="http://schemas.microsoft.com/office/drawing/2014/main" id="{D021B123-5CE2-4390-920E-71C08694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F3F7F4"/>
                </a:solidFill>
              </a:defRPr>
            </a:pPr>
            <a:r>
              <a:rPr sz="2025" b="1" i="0">
                <a:solidFill>
                  <a:srgbClr val="F3F7F4"/>
                </a:solidFill>
              </a:rPr>
              <a:t>EXECUTION</a:t>
            </a:r>
          </a:p>
        </p:txBody>
      </p:sp>
      <p:sp>
        <p:nvSpPr>
          <p:cNvPr id="13" name="problem-payoff">
            <a:extLst xmlns:a="http://schemas.openxmlformats.org/drawingml/2006/main">
              <a:ext uri="{FF2B5EF4-FFF2-40B4-BE49-F238E27FC236}">
                <a16:creationId xmlns:a16="http://schemas.microsoft.com/office/drawing/2014/main" id="{8FD84A66-AEBD-4719-9575-9D1269AD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9FF66"/>
                </a:solidFill>
              </a:defRPr>
            </a:pPr>
            <a:r>
              <a:rPr sz="1800" b="1" i="0">
                <a:solidFill>
                  <a:srgbClr val="B9FF66"/>
                </a:solidFill>
              </a:rPr>
              <a:t>Intelligence can propose. Only policy can authorize.</a:t>
            </a:r>
          </a:p>
        </p:txBody>
      </p:sp>
    </p:spTree>
    <p:extLst>
      <p:ext uri="{BB962C8B-B14F-4D97-AF65-F5344CB8AC3E}">
        <p14:creationId xmlns:p14="http://schemas.microsoft.com/office/powerpoint/2010/main" val="493914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3">
            <a:extLst xmlns:a="http://schemas.openxmlformats.org/drawingml/2006/main">
              <a:ext uri="{FF2B5EF4-FFF2-40B4-BE49-F238E27FC236}">
                <a16:creationId xmlns:a16="http://schemas.microsoft.com/office/drawing/2014/main" id="{D375AA05-1021-47E8-97B5-8C5BF0E7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7E2B2"/>
                </a:solidFill>
              </a:defRPr>
            </a:pPr>
            <a:r>
              <a:rPr sz="975" b="1" i="0">
                <a:solidFill>
                  <a:srgbClr val="57E2B2"/>
                </a:solidFill>
              </a:rPr>
              <a:t>STRATEGY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577674D1-88F2-4176-8B83-9997611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DA198"/>
                </a:solidFill>
              </a:defRPr>
            </a:pPr>
            <a:r>
              <a:rPr sz="975" b="1" i="0">
                <a:solidFill>
                  <a:srgbClr val="8DA198"/>
                </a:solidFill>
              </a:rPr>
              <a:t>03</a:t>
            </a:r>
          </a:p>
        </p:txBody>
      </p:sp>
      <p:sp>
        <p:nvSpPr>
          <p:cNvPr id="3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77250ACD-0C49-4F7A-841A-CB4EFDDC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D55405DA-5A60-4E34-8184-340DABD4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DA198"/>
                </a:solidFill>
              </a:defRPr>
            </a:pPr>
            <a:r>
              <a:rPr sz="750" b="1" i="0">
                <a:solidFill>
                  <a:srgbClr val="8DA198"/>
                </a:solidFill>
              </a:rPr>
              <a:t>CLOUDRISE  ·  PAPER ONLY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9E9EE51B-FC10-4DBC-8770-D3301290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3F7F4"/>
                </a:solidFill>
              </a:defRPr>
            </a:pPr>
            <a:r>
              <a:rPr sz="3675" b="1" i="0">
                <a:solidFill>
                  <a:srgbClr val="F3F7F4"/>
                </a:solidFill>
              </a:rPr>
              <a:t>One week rewards focus, not a sprawling universe.</a:t>
            </a:r>
          </a:p>
        </p:txBody>
      </p:sp>
      <p:sp>
        <p:nvSpPr>
          <p:cNvPr id="6" name="subtitle-3">
            <a:extLst xmlns:a="http://schemas.openxmlformats.org/drawingml/2006/main">
              <a:ext uri="{FF2B5EF4-FFF2-40B4-BE49-F238E27FC236}">
                <a16:creationId xmlns:a16="http://schemas.microsoft.com/office/drawing/2014/main" id="{D358F3D0-2FA3-4C78-9F54-EBE48A33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CloudRise concentrates on structures that can be evaluated and executed repeatedly.</a:t>
            </a:r>
          </a:p>
        </p:txBody>
      </p:sp>
      <p:sp>
        <p:nvSpPr>
          <p:cNvPr id="7" name="strategy-number-01">
            <a:extLst xmlns:a="http://schemas.openxmlformats.org/drawingml/2006/main">
              <a:ext uri="{FF2B5EF4-FFF2-40B4-BE49-F238E27FC236}">
                <a16:creationId xmlns:a16="http://schemas.microsoft.com/office/drawing/2014/main" id="{B8B16EF1-457C-4694-8A2F-1D96255F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B9FF66"/>
                </a:solidFill>
              </a:defRPr>
            </a:pPr>
            <a:r>
              <a:rPr sz="4050" b="1" i="0">
                <a:solidFill>
                  <a:srgbClr val="B9FF66"/>
                </a:solidFill>
              </a:rPr>
              <a:t>01</a:t>
            </a:r>
          </a:p>
        </p:txBody>
      </p:sp>
      <p:sp>
        <p:nvSpPr>
          <p:cNvPr id="8" name="strategy-title-01">
            <a:extLst xmlns:a="http://schemas.openxmlformats.org/drawingml/2006/main">
              <a:ext uri="{FF2B5EF4-FFF2-40B4-BE49-F238E27FC236}">
                <a16:creationId xmlns:a16="http://schemas.microsoft.com/office/drawing/2014/main" id="{3B0CA53C-5780-4F91-9333-1A35D6E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3F7F4"/>
                </a:solidFill>
              </a:defRPr>
            </a:pPr>
            <a:r>
              <a:rPr sz="2100" b="1" i="0">
                <a:solidFill>
                  <a:srgbClr val="F3F7F4"/>
                </a:solidFill>
              </a:rPr>
              <a:t>Liquid index ETFs</a:t>
            </a:r>
          </a:p>
        </p:txBody>
      </p:sp>
      <p:sp>
        <p:nvSpPr>
          <p:cNvPr id="9" name="strategy-body-01">
            <a:extLst xmlns:a="http://schemas.openxmlformats.org/drawingml/2006/main">
              <a:ext uri="{FF2B5EF4-FFF2-40B4-BE49-F238E27FC236}">
                <a16:creationId xmlns:a16="http://schemas.microsoft.com/office/drawing/2014/main" id="{9D6E129D-6AE8-4E6A-B41A-F80718BC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SPY · QQQ · IWM</a:t>
            </a:r>
          </a:p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Avoid single-company earnings gaps and prioritize option depth.</a:t>
            </a:r>
          </a:p>
        </p:txBody>
      </p:sp>
      <p:sp>
        <p:nvSpPr>
          <p:cNvPr id="10" name="strategy-number-02">
            <a:extLst xmlns:a="http://schemas.openxmlformats.org/drawingml/2006/main">
              <a:ext uri="{FF2B5EF4-FFF2-40B4-BE49-F238E27FC236}">
                <a16:creationId xmlns:a16="http://schemas.microsoft.com/office/drawing/2014/main" id="{8253A9E6-AA46-4090-8B3E-2A4AE0E9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B9FF66"/>
                </a:solidFill>
              </a:defRPr>
            </a:pPr>
            <a:r>
              <a:rPr sz="4050" b="1" i="0">
                <a:solidFill>
                  <a:srgbClr val="B9FF66"/>
                </a:solidFill>
              </a:rPr>
              <a:t>02</a:t>
            </a:r>
          </a:p>
        </p:txBody>
      </p:sp>
      <p:sp>
        <p:nvSpPr>
          <p:cNvPr id="11" name="strategy-title-02">
            <a:extLst xmlns:a="http://schemas.openxmlformats.org/drawingml/2006/main">
              <a:ext uri="{FF2B5EF4-FFF2-40B4-BE49-F238E27FC236}">
                <a16:creationId xmlns:a16="http://schemas.microsoft.com/office/drawing/2014/main" id="{8384DBC6-5958-4821-9600-71CE111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766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3F7F4"/>
                </a:solidFill>
              </a:defRPr>
            </a:pPr>
            <a:r>
              <a:rPr sz="2100" b="1" i="0">
                <a:solidFill>
                  <a:srgbClr val="F3F7F4"/>
                </a:solidFill>
              </a:rPr>
              <a:t>15-minute signals</a:t>
            </a:r>
          </a:p>
        </p:txBody>
      </p:sp>
      <p:sp>
        <p:nvSpPr>
          <p:cNvPr id="12" name="strategy-body-02">
            <a:extLst xmlns:a="http://schemas.openxmlformats.org/drawingml/2006/main">
              <a:ext uri="{FF2B5EF4-FFF2-40B4-BE49-F238E27FC236}">
                <a16:creationId xmlns:a16="http://schemas.microsoft.com/office/drawing/2014/main" id="{A72CD1CB-06E3-4F09-8433-E5EC14A4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Fast enough for a seven-day contest; slow enough to suppress microstructure noise.</a:t>
            </a:r>
          </a:p>
        </p:txBody>
      </p:sp>
      <p:sp>
        <p:nvSpPr>
          <p:cNvPr id="13" name="strategy-number-03">
            <a:extLst xmlns:a="http://schemas.openxmlformats.org/drawingml/2006/main">
              <a:ext uri="{FF2B5EF4-FFF2-40B4-BE49-F238E27FC236}">
                <a16:creationId xmlns:a16="http://schemas.microsoft.com/office/drawing/2014/main" id="{98E6B3A1-15F5-46DF-A708-69675987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85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B9FF66"/>
                </a:solidFill>
              </a:defRPr>
            </a:pPr>
            <a:r>
              <a:rPr sz="4050" b="1" i="0">
                <a:solidFill>
                  <a:srgbClr val="B9FF66"/>
                </a:solidFill>
              </a:rPr>
              <a:t>03</a:t>
            </a:r>
          </a:p>
        </p:txBody>
      </p:sp>
      <p:sp>
        <p:nvSpPr>
          <p:cNvPr id="14" name="strategy-title-03">
            <a:extLst xmlns:a="http://schemas.openxmlformats.org/drawingml/2006/main">
              <a:ext uri="{FF2B5EF4-FFF2-40B4-BE49-F238E27FC236}">
                <a16:creationId xmlns:a16="http://schemas.microsoft.com/office/drawing/2014/main" id="{BCA754AE-4459-438C-B794-A86F66FE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3F7F4"/>
                </a:solidFill>
              </a:defRPr>
            </a:pPr>
            <a:r>
              <a:rPr sz="2100" b="1" i="0">
                <a:solidFill>
                  <a:srgbClr val="F3F7F4"/>
                </a:solidFill>
              </a:rPr>
              <a:t>7–21 DTE spreads</a:t>
            </a:r>
          </a:p>
        </p:txBody>
      </p:sp>
      <p:sp>
        <p:nvSpPr>
          <p:cNvPr id="15" name="strategy-body-03">
            <a:extLst xmlns:a="http://schemas.openxmlformats.org/drawingml/2006/main">
              <a:ext uri="{FF2B5EF4-FFF2-40B4-BE49-F238E27FC236}">
                <a16:creationId xmlns:a16="http://schemas.microsoft.com/office/drawing/2014/main" id="{D844620A-E79C-4B9E-9825-DE792B25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295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Directional convexity with the maximum loss known before entry.</a:t>
            </a:r>
          </a:p>
        </p:txBody>
      </p:sp>
      <p:sp>
        <p:nvSpPr>
          <p:cNvPr id="16" name="strategy-requirement">
            <a:extLst xmlns:a="http://schemas.openxmlformats.org/drawingml/2006/main">
              <a:ext uri="{FF2B5EF4-FFF2-40B4-BE49-F238E27FC236}">
                <a16:creationId xmlns:a16="http://schemas.microsoft.com/office/drawing/2014/main" id="{9AD65EEE-864F-4177-911B-45E4FC24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7E2B2"/>
                </a:solidFill>
              </a:defRPr>
            </a:pPr>
            <a:r>
              <a:rPr sz="1650" b="1" i="0">
                <a:solidFill>
                  <a:srgbClr val="57E2B2"/>
                </a:solidFill>
              </a:rPr>
              <a:t>Built for the required fresh $100,000 Alpaca paper account — and for measurable P&amp;L.</a:t>
            </a:r>
          </a:p>
        </p:txBody>
      </p:sp>
    </p:spTree>
    <p:extLst>
      <p:ext uri="{BB962C8B-B14F-4D97-AF65-F5344CB8AC3E}">
        <p14:creationId xmlns:p14="http://schemas.microsoft.com/office/powerpoint/2010/main" val="86741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4">
            <a:extLst xmlns:a="http://schemas.openxmlformats.org/drawingml/2006/main">
              <a:ext uri="{FF2B5EF4-FFF2-40B4-BE49-F238E27FC236}">
                <a16:creationId xmlns:a16="http://schemas.microsoft.com/office/drawing/2014/main" id="{9784F5CF-886A-429E-952F-C7BFCA76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7E2B2"/>
                </a:solidFill>
              </a:defRPr>
            </a:pPr>
            <a:r>
              <a:rPr sz="975" b="1" i="0">
                <a:solidFill>
                  <a:srgbClr val="57E2B2"/>
                </a:solidFill>
              </a:rPr>
              <a:t>ARCHITECTURE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7733B84B-2C36-4F52-8299-18A09B3F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DA198"/>
                </a:solidFill>
              </a:defRPr>
            </a:pPr>
            <a:r>
              <a:rPr sz="975" b="1" i="0">
                <a:solidFill>
                  <a:srgbClr val="8DA198"/>
                </a:solidFill>
              </a:rPr>
              <a:t>04</a:t>
            </a:r>
          </a:p>
        </p:txBody>
      </p:sp>
      <p:sp>
        <p:nvSpPr>
          <p:cNvPr id="3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D3AB7961-1556-4999-896F-BEEE56D8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8E66A9DB-E7F3-4A1C-89AF-2E1E15A4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DA198"/>
                </a:solidFill>
              </a:defRPr>
            </a:pPr>
            <a:r>
              <a:rPr sz="750" b="1" i="0">
                <a:solidFill>
                  <a:srgbClr val="8DA198"/>
                </a:solidFill>
              </a:rPr>
              <a:t>CLOUDRISE  ·  PAPER ONLY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30524E94-97F5-4E04-BBA3-F5319843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3F7F4"/>
                </a:solidFill>
              </a:defRPr>
            </a:pPr>
            <a:r>
              <a:rPr sz="3675" b="1" i="0">
                <a:solidFill>
                  <a:srgbClr val="F3F7F4"/>
                </a:solidFill>
              </a:rPr>
              <a:t>Autonomy moves through four explicit authorities.</a:t>
            </a:r>
          </a:p>
        </p:txBody>
      </p:sp>
      <p:sp>
        <p:nvSpPr>
          <p:cNvPr id="6" name="subtitle-4">
            <a:extLst xmlns:a="http://schemas.openxmlformats.org/drawingml/2006/main">
              <a:ext uri="{FF2B5EF4-FFF2-40B4-BE49-F238E27FC236}">
                <a16:creationId xmlns:a16="http://schemas.microsoft.com/office/drawing/2014/main" id="{A92AB44B-A94E-4977-96D3-310D9F97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Every boundary produces inspectable evidence.</a:t>
            </a:r>
          </a:p>
        </p:txBody>
      </p:sp>
      <p:sp>
        <p:nvSpPr>
          <p:cNvPr id="7" name="arch-rail">
            <a:extLst xmlns:a="http://schemas.openxmlformats.org/drawingml/2006/main">
              <a:ext uri="{FF2B5EF4-FFF2-40B4-BE49-F238E27FC236}">
                <a16:creationId xmlns:a16="http://schemas.microsoft.com/office/drawing/2014/main" id="{A1B8B5F5-BA6B-4C31-A991-37D78956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57575"/>
            <a:ext cx="647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DD75624D-ED49-49E6-A0B6-7F612BB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B9FF66"/>
                </a:solidFill>
              </a:defRPr>
            </a:pPr>
            <a:r>
              <a:rPr sz="2250" b="1" i="0">
                <a:solidFill>
                  <a:srgbClr val="B9FF66"/>
                </a:solidFill>
              </a:rPr>
              <a:t>→</a:t>
            </a:r>
          </a:p>
        </p:txBody>
      </p:sp>
      <p:sp>
        <p:nvSpPr>
          <p:cNvPr id="9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7AB053EF-F2E7-4324-BECA-37983C7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480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B9FF66"/>
                </a:solidFill>
              </a:defRPr>
            </a:pPr>
            <a:r>
              <a:rPr sz="2250" b="1" i="0">
                <a:solidFill>
                  <a:srgbClr val="B9FF66"/>
                </a:solidFill>
              </a:rPr>
              <a:t>→</a:t>
            </a:r>
          </a:p>
        </p:txBody>
      </p:sp>
      <p:sp>
        <p:nvSpPr>
          <p:cNvPr id="10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53449369-7DB4-4CF9-9F4C-2BEF1284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480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B9FF66"/>
                </a:solidFill>
              </a:defRPr>
            </a:pPr>
            <a:r>
              <a:rPr sz="2250" b="1" i="0">
                <a:solidFill>
                  <a:srgbClr val="B9FF66"/>
                </a:solidFill>
              </a:rPr>
              <a:t>→</a:t>
            </a:r>
          </a:p>
        </p:txBody>
      </p:sp>
      <p:sp>
        <p:nvSpPr>
          <p:cNvPr id="11" name="arch-node-0">
            <a:extLst xmlns:a="http://schemas.openxmlformats.org/drawingml/2006/main">
              <a:ext uri="{FF2B5EF4-FFF2-40B4-BE49-F238E27FC236}">
                <a16:creationId xmlns:a16="http://schemas.microsoft.com/office/drawing/2014/main" id="{15B52915-8C85-4CB6-BB39-5F73600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9050">
            <a:solidFill>
              <a:srgbClr val="57E2B2"/>
            </a:solidFill>
            <a:prstDash val="solid"/>
          </a:ln>
        </p:spPr>
      </p:sp>
      <p:sp>
        <p:nvSpPr>
          <p:cNvPr id="12" name="arch-label-0">
            <a:extLst xmlns:a="http://schemas.openxmlformats.org/drawingml/2006/main">
              <a:ext uri="{FF2B5EF4-FFF2-40B4-BE49-F238E27FC236}">
                <a16:creationId xmlns:a16="http://schemas.microsoft.com/office/drawing/2014/main" id="{52122EA8-08B4-4B88-A9EC-FCE62A6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7E2B2"/>
                </a:solidFill>
              </a:defRPr>
            </a:pPr>
            <a:r>
              <a:rPr sz="1800" b="1" i="0">
                <a:solidFill>
                  <a:srgbClr val="57E2B2"/>
                </a:solidFill>
              </a:rPr>
              <a:t>OBSERVE</a:t>
            </a:r>
          </a:p>
        </p:txBody>
      </p:sp>
      <p:sp>
        <p:nvSpPr>
          <p:cNvPr id="13" name="arch-detail-0">
            <a:extLst xmlns:a="http://schemas.openxmlformats.org/drawingml/2006/main">
              <a:ext uri="{FF2B5EF4-FFF2-40B4-BE49-F238E27FC236}">
                <a16:creationId xmlns:a16="http://schemas.microsoft.com/office/drawing/2014/main" id="{A56AF88B-37EA-43B2-9C05-70FC62D9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IEX bars</a:t>
            </a:r>
          </a:p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Option snapshots</a:t>
            </a:r>
          </a:p>
        </p:txBody>
      </p:sp>
      <p:sp>
        <p:nvSpPr>
          <p:cNvPr id="14" name="arch-node-1">
            <a:extLst xmlns:a="http://schemas.openxmlformats.org/drawingml/2006/main">
              <a:ext uri="{FF2B5EF4-FFF2-40B4-BE49-F238E27FC236}">
                <a16:creationId xmlns:a16="http://schemas.microsoft.com/office/drawing/2014/main" id="{19585403-CA42-4A3C-AF1B-CD03C303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9050">
            <a:solidFill>
              <a:srgbClr val="5ED4FF"/>
            </a:solidFill>
            <a:prstDash val="solid"/>
          </a:ln>
        </p:spPr>
      </p:sp>
      <p:sp>
        <p:nvSpPr>
          <p:cNvPr id="15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E02476F3-2A73-4B84-BBDD-997FFF4B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5ED4FF"/>
                </a:solidFill>
              </a:defRPr>
            </a:pPr>
            <a:r>
              <a:rPr sz="1800" b="1" i="0">
                <a:solidFill>
                  <a:srgbClr val="5ED4FF"/>
                </a:solidFill>
              </a:rPr>
              <a:t>DEBATE</a:t>
            </a:r>
          </a:p>
        </p:txBody>
      </p:sp>
      <p:sp>
        <p:nvSpPr>
          <p:cNvPr id="16" name="arch-detail-1">
            <a:extLst xmlns:a="http://schemas.openxmlformats.org/drawingml/2006/main">
              <a:ext uri="{FF2B5EF4-FFF2-40B4-BE49-F238E27FC236}">
                <a16:creationId xmlns:a16="http://schemas.microsoft.com/office/drawing/2014/main" id="{5E3CC030-8C63-4C37-9627-B20B1834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4 independent</a:t>
            </a:r>
          </a:p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specialist votes</a:t>
            </a:r>
          </a:p>
        </p:txBody>
      </p:sp>
      <p:sp>
        <p:nvSpPr>
          <p:cNvPr id="17" name="arch-node-2">
            <a:extLst xmlns:a="http://schemas.openxmlformats.org/drawingml/2006/main">
              <a:ext uri="{FF2B5EF4-FFF2-40B4-BE49-F238E27FC236}">
                <a16:creationId xmlns:a16="http://schemas.microsoft.com/office/drawing/2014/main" id="{9831DA1F-2163-4CDD-96BE-DA56574F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9050">
            <a:solidFill>
              <a:srgbClr val="B9FF66"/>
            </a:solidFill>
            <a:prstDash val="solid"/>
          </a:ln>
        </p:spPr>
      </p:sp>
      <p:sp>
        <p:nvSpPr>
          <p:cNvPr id="18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A221329A-1A56-4810-987F-05095BE7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9FF66"/>
                </a:solidFill>
              </a:defRPr>
            </a:pPr>
            <a:r>
              <a:rPr sz="1800" b="1" i="0">
                <a:solidFill>
                  <a:srgbClr val="B9FF66"/>
                </a:solidFill>
              </a:rPr>
              <a:t>GOVERN</a:t>
            </a:r>
          </a:p>
        </p:txBody>
      </p:sp>
      <p:sp>
        <p:nvSpPr>
          <p:cNvPr id="19" name="arch-detail-2">
            <a:extLst xmlns:a="http://schemas.openxmlformats.org/drawingml/2006/main">
              <a:ext uri="{FF2B5EF4-FFF2-40B4-BE49-F238E27FC236}">
                <a16:creationId xmlns:a16="http://schemas.microsoft.com/office/drawing/2014/main" id="{CBD94F27-9AF2-441B-B354-FF98FEE9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11 hard gates</a:t>
            </a:r>
          </a:p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Risk-sized authority</a:t>
            </a:r>
          </a:p>
        </p:txBody>
      </p:sp>
      <p:sp>
        <p:nvSpPr>
          <p:cNvPr id="20" name="arch-node-3">
            <a:extLst xmlns:a="http://schemas.openxmlformats.org/drawingml/2006/main">
              <a:ext uri="{FF2B5EF4-FFF2-40B4-BE49-F238E27FC236}">
                <a16:creationId xmlns:a16="http://schemas.microsoft.com/office/drawing/2014/main" id="{EFBDAD90-7E05-4122-A02E-995DE9B9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38450"/>
            <a:ext cx="2209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9050">
            <a:solidFill>
              <a:srgbClr val="F3F7F4"/>
            </a:solidFill>
            <a:prstDash val="solid"/>
          </a:ln>
        </p:spPr>
      </p:sp>
      <p:sp>
        <p:nvSpPr>
          <p:cNvPr id="21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C6B65AC0-522E-44DE-A9BA-C8C4D1F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3F7F4"/>
                </a:solidFill>
              </a:defRPr>
            </a:pPr>
            <a:r>
              <a:rPr sz="1800" b="1" i="0">
                <a:solidFill>
                  <a:srgbClr val="F3F7F4"/>
                </a:solidFill>
              </a:rPr>
              <a:t>EXECUTE</a:t>
            </a:r>
          </a:p>
        </p:txBody>
      </p:sp>
      <p:sp>
        <p:nvSpPr>
          <p:cNvPr id="22" name="arch-detail-3">
            <a:extLst xmlns:a="http://schemas.openxmlformats.org/drawingml/2006/main">
              <a:ext uri="{FF2B5EF4-FFF2-40B4-BE49-F238E27FC236}">
                <a16:creationId xmlns:a16="http://schemas.microsoft.com/office/drawing/2014/main" id="{4E17EBA8-B347-4CAC-A07D-6C4C1005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05200"/>
            <a:ext cx="1828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Atomic MLeg</a:t>
            </a:r>
          </a:p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Alpaca CLI</a:t>
            </a:r>
          </a:p>
        </p:txBody>
      </p:sp>
      <p:sp>
        <p:nvSpPr>
          <p:cNvPr id="23" name="arch-ledger">
            <a:extLst xmlns:a="http://schemas.openxmlformats.org/drawingml/2006/main">
              <a:ext uri="{FF2B5EF4-FFF2-40B4-BE49-F238E27FC236}">
                <a16:creationId xmlns:a16="http://schemas.microsoft.com/office/drawing/2014/main" id="{A8ABEFD1-F4DC-4D76-8376-3ECC58AF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7E2B2"/>
                </a:solidFill>
              </a:defRPr>
            </a:pPr>
            <a:r>
              <a:rPr sz="1500" b="1" i="0">
                <a:solidFill>
                  <a:srgbClr val="57E2B2"/>
                </a:solidFill>
              </a:rPr>
              <a:t>THESIS  +  VETO  +  RISK DECISION  +  COMMAND  +  BROKER RESPONSE  →  APPEND-ONLY LEDGER</a:t>
            </a:r>
          </a:p>
        </p:txBody>
      </p:sp>
    </p:spTree>
    <p:extLst>
      <p:ext uri="{BB962C8B-B14F-4D97-AF65-F5344CB8AC3E}">
        <p14:creationId xmlns:p14="http://schemas.microsoft.com/office/powerpoint/2010/main" val="798932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5">
            <a:extLst xmlns:a="http://schemas.openxmlformats.org/drawingml/2006/main">
              <a:ext uri="{FF2B5EF4-FFF2-40B4-BE49-F238E27FC236}">
                <a16:creationId xmlns:a16="http://schemas.microsoft.com/office/drawing/2014/main" id="{61F5E09C-9B43-45C7-96F7-CCD342CB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7E2B2"/>
                </a:solidFill>
              </a:defRPr>
            </a:pPr>
            <a:r>
              <a:rPr sz="975" b="1" i="0">
                <a:solidFill>
                  <a:srgbClr val="57E2B2"/>
                </a:solidFill>
              </a:rPr>
              <a:t>AI LOGIC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F24240AB-B772-4387-9646-8949842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DA198"/>
                </a:solidFill>
              </a:defRPr>
            </a:pPr>
            <a:r>
              <a:rPr sz="975" b="1" i="0">
                <a:solidFill>
                  <a:srgbClr val="8DA198"/>
                </a:solidFill>
              </a:rPr>
              <a:t>05</a:t>
            </a:r>
          </a:p>
        </p:txBody>
      </p:sp>
      <p:sp>
        <p:nvSpPr>
          <p:cNvPr id="3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B1444AF6-392E-4ABF-A13E-2D4D7863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11AB184E-734E-4826-BF9D-EDC7F2C9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DA198"/>
                </a:solidFill>
              </a:defRPr>
            </a:pPr>
            <a:r>
              <a:rPr sz="750" b="1" i="0">
                <a:solidFill>
                  <a:srgbClr val="8DA198"/>
                </a:solidFill>
              </a:rPr>
              <a:t>CLOUDRISE  ·  PAPER ONLY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1A676F7C-E09C-4606-90B4-62C24BE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3F7F4"/>
                </a:solidFill>
              </a:defRPr>
            </a:pPr>
            <a:r>
              <a:rPr sz="3675" b="1" i="0">
                <a:solidFill>
                  <a:srgbClr val="F3F7F4"/>
                </a:solidFill>
              </a:rPr>
              <a:t>Agreement creates the thesis.</a:t>
            </a:r>
          </a:p>
        </p:txBody>
      </p:sp>
      <p:sp>
        <p:nvSpPr>
          <p:cNvPr id="6" name="subtitle-5">
            <a:extLst xmlns:a="http://schemas.openxmlformats.org/drawingml/2006/main">
              <a:ext uri="{FF2B5EF4-FFF2-40B4-BE49-F238E27FC236}">
                <a16:creationId xmlns:a16="http://schemas.microsoft.com/office/drawing/2014/main" id="{36F890CB-6EC7-46D2-8EAF-93CB0133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No single model decides; the same input yields the same scored explanation with no paid inference.</a:t>
            </a:r>
          </a:p>
        </p:txBody>
      </p:sp>
      <p:sp>
        <p:nvSpPr>
          <p:cNvPr id="7" name="weight-segment-0">
            <a:extLst xmlns:a="http://schemas.openxmlformats.org/drawingml/2006/main">
              <a:ext uri="{FF2B5EF4-FFF2-40B4-BE49-F238E27FC236}">
                <a16:creationId xmlns:a16="http://schemas.microsoft.com/office/drawing/2014/main" id="{4931D9E5-F9D0-4D1A-AA97-5C633639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01764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eight-label-0">
            <a:extLst xmlns:a="http://schemas.openxmlformats.org/drawingml/2006/main">
              <a:ext uri="{FF2B5EF4-FFF2-40B4-BE49-F238E27FC236}">
                <a16:creationId xmlns:a16="http://schemas.microsoft.com/office/drawing/2014/main" id="{35D0F761-EAF0-4A23-A373-887E4AB1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7975"/>
            <a:ext cx="382714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00D"/>
                </a:solidFill>
              </a:defRPr>
            </a:pPr>
            <a:r>
              <a:rPr sz="1725" b="1" i="0">
                <a:solidFill>
                  <a:srgbClr val="07100D"/>
                </a:solidFill>
              </a:rPr>
              <a:t>38%</a:t>
            </a:r>
          </a:p>
        </p:txBody>
      </p:sp>
      <p:sp>
        <p:nvSpPr>
          <p:cNvPr id="9" name="agent-name-0">
            <a:extLst xmlns:a="http://schemas.openxmlformats.org/drawingml/2006/main">
              <a:ext uri="{FF2B5EF4-FFF2-40B4-BE49-F238E27FC236}">
                <a16:creationId xmlns:a16="http://schemas.microsoft.com/office/drawing/2014/main" id="{1D00D094-AA1D-4B4D-8EBC-15C8A54E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176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B9FF66"/>
                </a:solidFill>
              </a:defRPr>
            </a:pPr>
            <a:r>
              <a:rPr sz="1650" b="1" i="0">
                <a:solidFill>
                  <a:srgbClr val="B9FF66"/>
                </a:solidFill>
              </a:rPr>
              <a:t>REGIME</a:t>
            </a:r>
          </a:p>
        </p:txBody>
      </p:sp>
      <p:sp>
        <p:nvSpPr>
          <p:cNvPr id="10" name="agent-evidence-0">
            <a:extLst xmlns:a="http://schemas.openxmlformats.org/drawingml/2006/main">
              <a:ext uri="{FF2B5EF4-FFF2-40B4-BE49-F238E27FC236}">
                <a16:creationId xmlns:a16="http://schemas.microsoft.com/office/drawing/2014/main" id="{1F9605B8-30F1-4E5C-B47A-24F2C44A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386524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8/21 EMA separation</a:t>
            </a:r>
          </a:p>
        </p:txBody>
      </p:sp>
      <p:sp>
        <p:nvSpPr>
          <p:cNvPr id="11" name="weight-segment-1">
            <a:extLst xmlns:a="http://schemas.openxmlformats.org/drawingml/2006/main">
              <a:ext uri="{FF2B5EF4-FFF2-40B4-BE49-F238E27FC236}">
                <a16:creationId xmlns:a16="http://schemas.microsoft.com/office/drawing/2014/main" id="{822AECBF-8933-4C2E-9EA8-9CB504B5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445" y="2724150"/>
            <a:ext cx="3171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eight-label-1">
            <a:extLst xmlns:a="http://schemas.openxmlformats.org/drawingml/2006/main">
              <a:ext uri="{FF2B5EF4-FFF2-40B4-BE49-F238E27FC236}">
                <a16:creationId xmlns:a16="http://schemas.microsoft.com/office/drawing/2014/main" id="{3153681D-6F8A-4B7D-8FAF-47D4002D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95" y="2847975"/>
            <a:ext cx="2981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00D"/>
                </a:solidFill>
              </a:defRPr>
            </a:pPr>
            <a:r>
              <a:rPr sz="1725" b="1" i="0">
                <a:solidFill>
                  <a:srgbClr val="07100D"/>
                </a:solidFill>
              </a:rPr>
              <a:t>30%</a:t>
            </a:r>
          </a:p>
        </p:txBody>
      </p:sp>
      <p:sp>
        <p:nvSpPr>
          <p:cNvPr id="13" name="agent-name-1">
            <a:extLst xmlns:a="http://schemas.openxmlformats.org/drawingml/2006/main">
              <a:ext uri="{FF2B5EF4-FFF2-40B4-BE49-F238E27FC236}">
                <a16:creationId xmlns:a16="http://schemas.microsoft.com/office/drawing/2014/main" id="{5B0A00E2-B9FE-4909-A874-311B893E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445" y="3619500"/>
            <a:ext cx="3171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7E2B2"/>
                </a:solidFill>
              </a:defRPr>
            </a:pPr>
            <a:r>
              <a:rPr sz="1650" b="1" i="0">
                <a:solidFill>
                  <a:srgbClr val="57E2B2"/>
                </a:solidFill>
              </a:rPr>
              <a:t>MOMENTUM</a:t>
            </a:r>
          </a:p>
        </p:txBody>
      </p:sp>
      <p:sp>
        <p:nvSpPr>
          <p:cNvPr id="14" name="agent-evidence-1">
            <a:extLst xmlns:a="http://schemas.openxmlformats.org/drawingml/2006/main">
              <a:ext uri="{FF2B5EF4-FFF2-40B4-BE49-F238E27FC236}">
                <a16:creationId xmlns:a16="http://schemas.microsoft.com/office/drawing/2014/main" id="{605A374D-7FCC-42AB-8AD2-56898CDD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4048125"/>
            <a:ext cx="3019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12-bar return</a:t>
            </a:r>
          </a:p>
        </p:txBody>
      </p:sp>
      <p:sp>
        <p:nvSpPr>
          <p:cNvPr id="15" name="weight-segment-2">
            <a:extLst xmlns:a="http://schemas.openxmlformats.org/drawingml/2006/main">
              <a:ext uri="{FF2B5EF4-FFF2-40B4-BE49-F238E27FC236}">
                <a16:creationId xmlns:a16="http://schemas.microsoft.com/office/drawing/2014/main" id="{FE667725-C78F-473C-863F-A7455DCA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270" y="2724150"/>
            <a:ext cx="232600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eight-label-2">
            <a:extLst xmlns:a="http://schemas.openxmlformats.org/drawingml/2006/main">
              <a:ext uri="{FF2B5EF4-FFF2-40B4-BE49-F238E27FC236}">
                <a16:creationId xmlns:a16="http://schemas.microsoft.com/office/drawing/2014/main" id="{2FBD35F1-385C-4102-8CD0-0C31868E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520" y="2847975"/>
            <a:ext cx="213550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00D"/>
                </a:solidFill>
              </a:defRPr>
            </a:pPr>
            <a:r>
              <a:rPr sz="1725" b="1" i="0">
                <a:solidFill>
                  <a:srgbClr val="07100D"/>
                </a:solidFill>
              </a:rPr>
              <a:t>22%</a:t>
            </a:r>
          </a:p>
        </p:txBody>
      </p:sp>
      <p:sp>
        <p:nvSpPr>
          <p:cNvPr id="17" name="agent-name-2">
            <a:extLst xmlns:a="http://schemas.openxmlformats.org/drawingml/2006/main">
              <a:ext uri="{FF2B5EF4-FFF2-40B4-BE49-F238E27FC236}">
                <a16:creationId xmlns:a16="http://schemas.microsoft.com/office/drawing/2014/main" id="{76A49225-0524-4411-AC22-6B51AECC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5270" y="3619500"/>
            <a:ext cx="232600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ED4FF"/>
                </a:solidFill>
              </a:defRPr>
            </a:pPr>
            <a:r>
              <a:rPr sz="1650" b="1" i="0">
                <a:solidFill>
                  <a:srgbClr val="5ED4FF"/>
                </a:solidFill>
              </a:rPr>
              <a:t>BREAKOUT</a:t>
            </a:r>
          </a:p>
        </p:txBody>
      </p:sp>
      <p:sp>
        <p:nvSpPr>
          <p:cNvPr id="18" name="agent-evidence-2">
            <a:extLst xmlns:a="http://schemas.openxmlformats.org/drawingml/2006/main">
              <a:ext uri="{FF2B5EF4-FFF2-40B4-BE49-F238E27FC236}">
                <a16:creationId xmlns:a16="http://schemas.microsoft.com/office/drawing/2014/main" id="{74F1AE80-3C28-4823-9575-CB1AA627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470" y="4048125"/>
            <a:ext cx="217360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DA198"/>
                </a:solidFill>
              </a:defRPr>
            </a:pPr>
            <a:r>
              <a:rPr sz="1350" b="0" i="0">
                <a:solidFill>
                  <a:srgbClr val="8DA198"/>
                </a:solidFill>
              </a:rPr>
              <a:t>20-bar channel</a:t>
            </a:r>
          </a:p>
        </p:txBody>
      </p:sp>
      <p:sp>
        <p:nvSpPr>
          <p:cNvPr id="19" name="weight-segment-3">
            <a:extLst xmlns:a="http://schemas.openxmlformats.org/drawingml/2006/main">
              <a:ext uri="{FF2B5EF4-FFF2-40B4-BE49-F238E27FC236}">
                <a16:creationId xmlns:a16="http://schemas.microsoft.com/office/drawing/2014/main" id="{CD16C255-48A8-4A8C-A4C4-DE7C4AB3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24150"/>
            <a:ext cx="10572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A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eight-label-3">
            <a:extLst xmlns:a="http://schemas.openxmlformats.org/drawingml/2006/main">
              <a:ext uri="{FF2B5EF4-FFF2-40B4-BE49-F238E27FC236}">
                <a16:creationId xmlns:a16="http://schemas.microsoft.com/office/drawing/2014/main" id="{DEA0BA9B-23BD-4419-B671-3A8DEE91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847975"/>
            <a:ext cx="86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3F7F4"/>
                </a:solidFill>
              </a:defRPr>
            </a:pPr>
            <a:r>
              <a:rPr sz="1725" b="1" i="0">
                <a:solidFill>
                  <a:srgbClr val="F3F7F4"/>
                </a:solidFill>
              </a:rPr>
              <a:t>10%</a:t>
            </a:r>
          </a:p>
        </p:txBody>
      </p:sp>
      <p:sp>
        <p:nvSpPr>
          <p:cNvPr id="21" name="agent-name-3">
            <a:extLst xmlns:a="http://schemas.openxmlformats.org/drawingml/2006/main">
              <a:ext uri="{FF2B5EF4-FFF2-40B4-BE49-F238E27FC236}">
                <a16:creationId xmlns:a16="http://schemas.microsoft.com/office/drawing/2014/main" id="{E98FB36D-6E11-457A-9016-70B9770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619500"/>
            <a:ext cx="1057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8DA198"/>
                </a:solidFill>
              </a:defRPr>
            </a:pPr>
            <a:r>
              <a:rPr sz="1125" b="1" i="0">
                <a:solidFill>
                  <a:srgbClr val="8DA198"/>
                </a:solidFill>
              </a:rPr>
              <a:t>REVERSION</a:t>
            </a:r>
          </a:p>
        </p:txBody>
      </p:sp>
      <p:sp>
        <p:nvSpPr>
          <p:cNvPr id="22" name="agent-evidence-3">
            <a:extLst xmlns:a="http://schemas.openxmlformats.org/drawingml/2006/main">
              <a:ext uri="{FF2B5EF4-FFF2-40B4-BE49-F238E27FC236}">
                <a16:creationId xmlns:a16="http://schemas.microsoft.com/office/drawing/2014/main" id="{392C4A17-D353-4DE9-86CF-98717428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048125"/>
            <a:ext cx="90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8DA198"/>
                </a:solidFill>
              </a:defRPr>
            </a:pPr>
            <a:r>
              <a:rPr sz="1050" b="0" i="0">
                <a:solidFill>
                  <a:srgbClr val="8DA198"/>
                </a:solidFill>
              </a:rPr>
              <a:t>RSI veto</a:t>
            </a:r>
          </a:p>
        </p:txBody>
      </p:sp>
      <p:sp>
        <p:nvSpPr>
          <p:cNvPr id="23" name="ensemble-formula">
            <a:extLst xmlns:a="http://schemas.openxmlformats.org/drawingml/2006/main">
              <a:ext uri="{FF2B5EF4-FFF2-40B4-BE49-F238E27FC236}">
                <a16:creationId xmlns:a16="http://schemas.microsoft.com/office/drawing/2014/main" id="{DA30166B-E308-44C5-9660-FED6105F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3F7F4"/>
                </a:solidFill>
              </a:defRPr>
            </a:pPr>
            <a:r>
              <a:rPr sz="2025" b="1" i="0">
                <a:solidFill>
                  <a:srgbClr val="F3F7F4"/>
                </a:solidFill>
              </a:rPr>
              <a:t>direction ≥ ±0.24   ·   agreement ≥ 60%   ·   confidence ≥ 62%</a:t>
            </a:r>
          </a:p>
        </p:txBody>
      </p:sp>
    </p:spTree>
    <p:extLst>
      <p:ext uri="{BB962C8B-B14F-4D97-AF65-F5344CB8AC3E}">
        <p14:creationId xmlns:p14="http://schemas.microsoft.com/office/powerpoint/2010/main" val="1660989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6">
            <a:extLst xmlns:a="http://schemas.openxmlformats.org/drawingml/2006/main">
              <a:ext uri="{FF2B5EF4-FFF2-40B4-BE49-F238E27FC236}">
                <a16:creationId xmlns:a16="http://schemas.microsoft.com/office/drawing/2014/main" id="{9745C548-01BC-43A9-82CE-0CFA3DB0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7E2B2"/>
                </a:solidFill>
              </a:defRPr>
            </a:pPr>
            <a:r>
              <a:rPr sz="975" b="1" i="0">
                <a:solidFill>
                  <a:srgbClr val="57E2B2"/>
                </a:solidFill>
              </a:rPr>
              <a:t>OPTIONS CONSTRUCTION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3955D626-ED14-4521-9A03-ABB7655A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DA198"/>
                </a:solidFill>
              </a:defRPr>
            </a:pPr>
            <a:r>
              <a:rPr sz="975" b="1" i="0">
                <a:solidFill>
                  <a:srgbClr val="8DA198"/>
                </a:solidFill>
              </a:rPr>
              <a:t>06</a:t>
            </a:r>
          </a:p>
        </p:txBody>
      </p:sp>
      <p:sp>
        <p:nvSpPr>
          <p:cNvPr id="3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332707CD-1A84-4EC8-99C9-D13239A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C7BF33F4-78EB-4692-90DF-05DBEE66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DA198"/>
                </a:solidFill>
              </a:defRPr>
            </a:pPr>
            <a:r>
              <a:rPr sz="750" b="1" i="0">
                <a:solidFill>
                  <a:srgbClr val="8DA198"/>
                </a:solidFill>
              </a:rPr>
              <a:t>CLOUDRISE  ·  PAPER ONLY</a:t>
            </a:r>
          </a:p>
        </p:txBody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81E95B53-73F5-417C-823C-CB79360A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3F7F4"/>
                </a:solidFill>
              </a:defRPr>
            </a:pPr>
            <a:r>
              <a:rPr sz="3675" b="1" i="0">
                <a:solidFill>
                  <a:srgbClr val="F3F7F4"/>
                </a:solidFill>
              </a:rPr>
              <a:t>The structure defines the loss before the order.</a:t>
            </a:r>
          </a:p>
        </p:txBody>
      </p:sp>
      <p:sp>
        <p:nvSpPr>
          <p:cNvPr id="6" name="subtitle-6">
            <a:extLst xmlns:a="http://schemas.openxmlformats.org/drawingml/2006/main">
              <a:ext uri="{FF2B5EF4-FFF2-40B4-BE49-F238E27FC236}">
                <a16:creationId xmlns:a16="http://schemas.microsoft.com/office/drawing/2014/main" id="{42AE1567-08DF-48B9-A335-5E314B04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Bullish → call debit spread. Bearish → put debit spread.</a:t>
            </a:r>
          </a:p>
        </p:txBody>
      </p:sp>
      <p:sp>
        <p:nvSpPr>
          <p:cNvPr id="7" name="spread-long-label">
            <a:extLst xmlns:a="http://schemas.openxmlformats.org/drawingml/2006/main">
              <a:ext uri="{FF2B5EF4-FFF2-40B4-BE49-F238E27FC236}">
                <a16:creationId xmlns:a16="http://schemas.microsoft.com/office/drawing/2014/main" id="{B79F7907-44A2-4CB0-AEC9-0D97953A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7E2B2"/>
                </a:solidFill>
              </a:defRPr>
            </a:pPr>
            <a:r>
              <a:rPr sz="1800" b="1" i="0">
                <a:solidFill>
                  <a:srgbClr val="57E2B2"/>
                </a:solidFill>
              </a:rPr>
              <a:t>LONG  ≈ 0.55Δ</a:t>
            </a:r>
          </a:p>
        </p:txBody>
      </p:sp>
      <p:sp>
        <p:nvSpPr>
          <p:cNvPr id="8" name="spread-short-label">
            <a:extLst xmlns:a="http://schemas.openxmlformats.org/drawingml/2006/main">
              <a:ext uri="{FF2B5EF4-FFF2-40B4-BE49-F238E27FC236}">
                <a16:creationId xmlns:a16="http://schemas.microsoft.com/office/drawing/2014/main" id="{848D2960-FB56-44FE-9017-2290A937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9FF66"/>
                </a:solidFill>
              </a:defRPr>
            </a:pPr>
            <a:r>
              <a:rPr sz="1800" b="1" i="0">
                <a:solidFill>
                  <a:srgbClr val="B9FF66"/>
                </a:solidFill>
              </a:rPr>
              <a:t>SHORT  ≈ 0.30Δ</a:t>
            </a:r>
          </a:p>
        </p:txBody>
      </p:sp>
      <p:sp>
        <p:nvSpPr>
          <p:cNvPr id="9" name="strike-axis">
            <a:extLst xmlns:a="http://schemas.openxmlformats.org/drawingml/2006/main">
              <a:ext uri="{FF2B5EF4-FFF2-40B4-BE49-F238E27FC236}">
                <a16:creationId xmlns:a16="http://schemas.microsoft.com/office/drawing/2014/main" id="{B1DE4C18-0664-4675-B6BD-57D2D422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ng-strike">
            <a:extLst xmlns:a="http://schemas.openxmlformats.org/drawingml/2006/main">
              <a:ext uri="{FF2B5EF4-FFF2-40B4-BE49-F238E27FC236}">
                <a16:creationId xmlns:a16="http://schemas.microsoft.com/office/drawing/2014/main" id="{80164E83-6978-49F4-B301-E65AF87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05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ort-strike">
            <a:extLst xmlns:a="http://schemas.openxmlformats.org/drawingml/2006/main">
              <a:ext uri="{FF2B5EF4-FFF2-40B4-BE49-F238E27FC236}">
                <a16:creationId xmlns:a16="http://schemas.microsoft.com/office/drawing/2014/main" id="{6797C1A2-38F9-421E-B45E-12AF5E3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ower-strike">
            <a:extLst xmlns:a="http://schemas.openxmlformats.org/drawingml/2006/main">
              <a:ext uri="{FF2B5EF4-FFF2-40B4-BE49-F238E27FC236}">
                <a16:creationId xmlns:a16="http://schemas.microsoft.com/office/drawing/2014/main" id="{51FE2F89-FE48-4016-813F-7C352CFB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624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198"/>
                </a:solidFill>
              </a:defRPr>
            </a:pPr>
            <a:r>
              <a:rPr sz="1050" b="1" i="0">
                <a:solidFill>
                  <a:srgbClr val="8DA198"/>
                </a:solidFill>
              </a:rPr>
              <a:t>LOWER STRIKE</a:t>
            </a:r>
          </a:p>
        </p:txBody>
      </p:sp>
      <p:sp>
        <p:nvSpPr>
          <p:cNvPr id="13" name="higher-strike">
            <a:extLst xmlns:a="http://schemas.openxmlformats.org/drawingml/2006/main">
              <a:ext uri="{FF2B5EF4-FFF2-40B4-BE49-F238E27FC236}">
                <a16:creationId xmlns:a16="http://schemas.microsoft.com/office/drawing/2014/main" id="{3AE9E036-6210-4429-85BD-FD4688C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8DA198"/>
                </a:solidFill>
              </a:defRPr>
            </a:pPr>
            <a:r>
              <a:rPr sz="1050" b="1" i="0">
                <a:solidFill>
                  <a:srgbClr val="8DA198"/>
                </a:solidFill>
              </a:rPr>
              <a:t>HIGHER STRIKE</a:t>
            </a:r>
          </a:p>
        </p:txBody>
      </p:sp>
      <p:sp>
        <p:nvSpPr>
          <p:cNvPr id="14" name="spread-direction">
            <a:extLst xmlns:a="http://schemas.openxmlformats.org/drawingml/2006/main">
              <a:ext uri="{FF2B5EF4-FFF2-40B4-BE49-F238E27FC236}">
                <a16:creationId xmlns:a16="http://schemas.microsoft.com/office/drawing/2014/main" id="{AE483F62-B44C-49AC-9A39-6CE0B1A7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3F7F4"/>
                </a:solidFill>
              </a:defRPr>
            </a:pPr>
            <a:r>
              <a:rPr sz="2025" b="1" i="0">
                <a:solidFill>
                  <a:srgbClr val="F3F7F4"/>
                </a:solidFill>
              </a:rPr>
              <a:t>BULL CALL SPREAD</a:t>
            </a:r>
          </a:p>
        </p:txBody>
      </p:sp>
      <p:sp>
        <p:nvSpPr>
          <p:cNvPr id="15" name="spread-divider">
            <a:extLst xmlns:a="http://schemas.openxmlformats.org/drawingml/2006/main">
              <a:ext uri="{FF2B5EF4-FFF2-40B4-BE49-F238E27FC236}">
                <a16:creationId xmlns:a16="http://schemas.microsoft.com/office/drawing/2014/main" id="{CCA45D97-16ED-4B57-B7C8-33171CC6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9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ct-label-0">
            <a:extLst xmlns:a="http://schemas.openxmlformats.org/drawingml/2006/main">
              <a:ext uri="{FF2B5EF4-FFF2-40B4-BE49-F238E27FC236}">
                <a16:creationId xmlns:a16="http://schemas.microsoft.com/office/drawing/2014/main" id="{0D1AEB4B-1065-43C4-BE49-4569FDA1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DA198"/>
                </a:solidFill>
              </a:defRPr>
            </a:pPr>
            <a:r>
              <a:rPr sz="1050" b="1" i="0">
                <a:solidFill>
                  <a:srgbClr val="8DA198"/>
                </a:solidFill>
              </a:rPr>
              <a:t>EXPIRY</a:t>
            </a:r>
          </a:p>
        </p:txBody>
      </p:sp>
      <p:sp>
        <p:nvSpPr>
          <p:cNvPr id="17" name="fact-value-0">
            <a:extLst xmlns:a="http://schemas.openxmlformats.org/drawingml/2006/main">
              <a:ext uri="{FF2B5EF4-FFF2-40B4-BE49-F238E27FC236}">
                <a16:creationId xmlns:a16="http://schemas.microsoft.com/office/drawing/2014/main" id="{AB7A1E7A-E5BB-4CEF-8F9A-2DFE604A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7E2B2"/>
                </a:solidFill>
              </a:defRPr>
            </a:pPr>
            <a:r>
              <a:rPr sz="1875" b="1" i="0">
                <a:solidFill>
                  <a:srgbClr val="57E2B2"/>
                </a:solidFill>
              </a:rPr>
              <a:t>nearest to 12 DTE</a:t>
            </a:r>
          </a:p>
        </p:txBody>
      </p:sp>
      <p:sp>
        <p:nvSpPr>
          <p:cNvPr id="18" name="fact-label-1">
            <a:extLst xmlns:a="http://schemas.openxmlformats.org/drawingml/2006/main">
              <a:ext uri="{FF2B5EF4-FFF2-40B4-BE49-F238E27FC236}">
                <a16:creationId xmlns:a16="http://schemas.microsoft.com/office/drawing/2014/main" id="{76F8444F-BF21-4D10-87D1-A4EE5915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DA198"/>
                </a:solidFill>
              </a:defRPr>
            </a:pPr>
            <a:r>
              <a:rPr sz="1050" b="1" i="0">
                <a:solidFill>
                  <a:srgbClr val="8DA198"/>
                </a:solidFill>
              </a:rPr>
              <a:t>ENTRY</a:t>
            </a:r>
          </a:p>
        </p:txBody>
      </p:sp>
      <p:sp>
        <p:nvSpPr>
          <p:cNvPr id="19" name="fact-value-1">
            <a:extLst xmlns:a="http://schemas.openxmlformats.org/drawingml/2006/main">
              <a:ext uri="{FF2B5EF4-FFF2-40B4-BE49-F238E27FC236}">
                <a16:creationId xmlns:a16="http://schemas.microsoft.com/office/drawing/2014/main" id="{68623BA1-631A-4A36-89C6-C9885108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7F4"/>
                </a:solidFill>
              </a:defRPr>
            </a:pPr>
            <a:r>
              <a:rPr sz="1875" b="1" i="0">
                <a:solidFill>
                  <a:srgbClr val="F3F7F4"/>
                </a:solidFill>
              </a:rPr>
              <a:t>long ask − short bid</a:t>
            </a:r>
          </a:p>
        </p:txBody>
      </p:sp>
      <p:sp>
        <p:nvSpPr>
          <p:cNvPr id="20" name="fact-label-2">
            <a:extLst xmlns:a="http://schemas.openxmlformats.org/drawingml/2006/main">
              <a:ext uri="{FF2B5EF4-FFF2-40B4-BE49-F238E27FC236}">
                <a16:creationId xmlns:a16="http://schemas.microsoft.com/office/drawing/2014/main" id="{3536FA08-376C-496F-A784-65CDD1A8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DA198"/>
                </a:solidFill>
              </a:defRPr>
            </a:pPr>
            <a:r>
              <a:rPr sz="1050" b="1" i="0">
                <a:solidFill>
                  <a:srgbClr val="8DA198"/>
                </a:solidFill>
              </a:rPr>
              <a:t>MAX LOSS</a:t>
            </a:r>
          </a:p>
        </p:txBody>
      </p:sp>
      <p:sp>
        <p:nvSpPr>
          <p:cNvPr id="21" name="fact-value-2">
            <a:extLst xmlns:a="http://schemas.openxmlformats.org/drawingml/2006/main">
              <a:ext uri="{FF2B5EF4-FFF2-40B4-BE49-F238E27FC236}">
                <a16:creationId xmlns:a16="http://schemas.microsoft.com/office/drawing/2014/main" id="{B63EFBCF-67F9-45DF-97C3-059E3059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B9FF66"/>
                </a:solidFill>
              </a:defRPr>
            </a:pPr>
            <a:r>
              <a:rPr sz="1875" b="1" i="0">
                <a:solidFill>
                  <a:srgbClr val="B9FF66"/>
                </a:solidFill>
              </a:rPr>
              <a:t>debit × 100 × quantity</a:t>
            </a:r>
          </a:p>
        </p:txBody>
      </p:sp>
      <p:sp>
        <p:nvSpPr>
          <p:cNvPr id="22" name="fact-label-3">
            <a:extLst xmlns:a="http://schemas.openxmlformats.org/drawingml/2006/main">
              <a:ext uri="{FF2B5EF4-FFF2-40B4-BE49-F238E27FC236}">
                <a16:creationId xmlns:a16="http://schemas.microsoft.com/office/drawing/2014/main" id="{AFE4E845-A34F-488F-962D-50006544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DA198"/>
                </a:solidFill>
              </a:defRPr>
            </a:pPr>
            <a:r>
              <a:rPr sz="1050" b="1" i="0">
                <a:solidFill>
                  <a:srgbClr val="8DA198"/>
                </a:solidFill>
              </a:rPr>
              <a:t>ORDER</a:t>
            </a:r>
          </a:p>
        </p:txBody>
      </p:sp>
      <p:sp>
        <p:nvSpPr>
          <p:cNvPr id="23" name="fact-value-3">
            <a:extLst xmlns:a="http://schemas.openxmlformats.org/drawingml/2006/main">
              <a:ext uri="{FF2B5EF4-FFF2-40B4-BE49-F238E27FC236}">
                <a16:creationId xmlns:a16="http://schemas.microsoft.com/office/drawing/2014/main" id="{59E9BDE3-54C8-452E-9E91-2014E307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625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3F7F4"/>
                </a:solidFill>
              </a:defRPr>
            </a:pPr>
            <a:r>
              <a:rPr sz="1875" b="1" i="0">
                <a:solidFill>
                  <a:srgbClr val="F3F7F4"/>
                </a:solidFill>
              </a:rPr>
              <a:t>single atomic MLeg limit</a:t>
            </a:r>
          </a:p>
        </p:txBody>
      </p:sp>
      <p:sp>
        <p:nvSpPr>
          <p:cNvPr id="24" name="spread-reject">
            <a:extLst xmlns:a="http://schemas.openxmlformats.org/drawingml/2006/main">
              <a:ext uri="{FF2B5EF4-FFF2-40B4-BE49-F238E27FC236}">
                <a16:creationId xmlns:a16="http://schemas.microsoft.com/office/drawing/2014/main" id="{BAFB68B5-C7A9-4B99-9FFD-E3634B0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7C72"/>
                </a:solidFill>
              </a:defRPr>
            </a:pPr>
            <a:r>
              <a:rPr sz="1350" b="0" i="0">
                <a:solidFill>
                  <a:srgbClr val="FF7C72"/>
                </a:solidFill>
              </a:rPr>
              <a:t>Reject wide quotes, invalid debit, or reward/risk &lt; 0.60×.</a:t>
            </a:r>
          </a:p>
        </p:txBody>
      </p:sp>
    </p:spTree>
    <p:extLst>
      <p:ext uri="{BB962C8B-B14F-4D97-AF65-F5344CB8AC3E}">
        <p14:creationId xmlns:p14="http://schemas.microsoft.com/office/powerpoint/2010/main" val="893392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ction-7">
            <a:extLst xmlns:a="http://schemas.openxmlformats.org/drawingml/2006/main">
              <a:ext uri="{FF2B5EF4-FFF2-40B4-BE49-F238E27FC236}">
                <a16:creationId xmlns:a16="http://schemas.microsoft.com/office/drawing/2014/main" id="{798C419E-D89F-46B9-8D70-10518157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7E2B2"/>
                </a:solidFill>
              </a:defRPr>
            </a:pPr>
            <a:r>
              <a:rPr sz="975" b="1" i="0">
                <a:solidFill>
                  <a:srgbClr val="57E2B2"/>
                </a:solidFill>
              </a:rPr>
              <a:t>RISK GOVERNANCE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166611BF-2E17-4A28-B733-362A086D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DA198"/>
                </a:solidFill>
              </a:defRPr>
            </a:pPr>
            <a:r>
              <a:rPr sz="975" b="1" i="0">
                <a:solidFill>
                  <a:srgbClr val="8DA198"/>
                </a:solidFill>
              </a:rPr>
              <a:t>07</a:t>
            </a:r>
          </a:p>
        </p:txBody>
      </p:sp>
      <p:sp>
        <p:nvSpPr>
          <p:cNvPr id="3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950319C4-B337-46DC-85DF-57D0EA67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19AA49FA-834D-48BD-A850-6995C661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DA198"/>
                </a:solidFill>
              </a:defRPr>
            </a:pPr>
            <a:r>
              <a:rPr sz="750" b="1" i="0">
                <a:solidFill>
                  <a:srgbClr val="8DA198"/>
                </a:solidFill>
              </a:rPr>
              <a:t>CLOUDRISE  ·  PAPER ONLY</a:t>
            </a:r>
          </a:p>
        </p:txBody>
      </p:sp>
      <p:sp>
        <p:nvSpPr>
          <p:cNvPr id="5" name="title-7">
            <a:extLst xmlns:a="http://schemas.openxmlformats.org/drawingml/2006/main">
              <a:ext uri="{FF2B5EF4-FFF2-40B4-BE49-F238E27FC236}">
                <a16:creationId xmlns:a16="http://schemas.microsoft.com/office/drawing/2014/main" id="{97E1DC84-AC93-42C9-9683-C17316CD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3F7F4"/>
                </a:solidFill>
              </a:defRPr>
            </a:pPr>
            <a:r>
              <a:rPr sz="3675" b="1" i="0">
                <a:solidFill>
                  <a:srgbClr val="F3F7F4"/>
                </a:solidFill>
              </a:rPr>
              <a:t>Eleven gates can veto. None can be bypassed.</a:t>
            </a:r>
          </a:p>
        </p:txBody>
      </p:sp>
      <p:sp>
        <p:nvSpPr>
          <p:cNvPr id="6" name="subtitle-7">
            <a:extLst xmlns:a="http://schemas.openxmlformats.org/drawingml/2006/main">
              <a:ext uri="{FF2B5EF4-FFF2-40B4-BE49-F238E27FC236}">
                <a16:creationId xmlns:a16="http://schemas.microsoft.com/office/drawing/2014/main" id="{D059A1F1-BD0C-41F1-908A-2D084DA0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The agent preserves optionality by making “no trade” a first-class outcome.</a:t>
            </a:r>
          </a:p>
        </p:txBody>
      </p:sp>
      <p:sp>
        <p:nvSpPr>
          <p:cNvPr id="7" name="risk-eleven">
            <a:extLst xmlns:a="http://schemas.openxmlformats.org/drawingml/2006/main">
              <a:ext uri="{FF2B5EF4-FFF2-40B4-BE49-F238E27FC236}">
                <a16:creationId xmlns:a16="http://schemas.microsoft.com/office/drawing/2014/main" id="{B8FCDA2B-4CFA-4BE5-818D-A6C5F633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0" b="1" i="0">
                <a:solidFill>
                  <a:srgbClr val="B9FF66"/>
                </a:solidFill>
              </a:defRPr>
            </a:pPr>
            <a:r>
              <a:rPr sz="11250" b="1" i="0">
                <a:solidFill>
                  <a:srgbClr val="B9FF66"/>
                </a:solidFill>
              </a:rPr>
              <a:t>11</a:t>
            </a:r>
          </a:p>
        </p:txBody>
      </p:sp>
      <p:sp>
        <p:nvSpPr>
          <p:cNvPr id="8" name="risk-caption">
            <a:extLst xmlns:a="http://schemas.openxmlformats.org/drawingml/2006/main">
              <a:ext uri="{FF2B5EF4-FFF2-40B4-BE49-F238E27FC236}">
                <a16:creationId xmlns:a16="http://schemas.microsoft.com/office/drawing/2014/main" id="{C1B9B565-D12C-4CA9-A679-FF0036AE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3F7F4"/>
                </a:solidFill>
              </a:defRPr>
            </a:pPr>
            <a:r>
              <a:rPr sz="1725" b="1" i="0">
                <a:solidFill>
                  <a:srgbClr val="F3F7F4"/>
                </a:solidFill>
              </a:rPr>
              <a:t>NON-BYPASSABLE</a:t>
            </a:r>
          </a:p>
          <a:p xmlns:a="http://schemas.openxmlformats.org/drawingml/2006/main">
            <a:pPr algn="ctr">
              <a:defRPr sz="1725" b="1" i="0">
                <a:solidFill>
                  <a:srgbClr val="F3F7F4"/>
                </a:solidFill>
              </a:defRPr>
            </a:pPr>
            <a:r>
              <a:rPr sz="1725" b="1" i="0">
                <a:solidFill>
                  <a:srgbClr val="F3F7F4"/>
                </a:solidFill>
              </a:rPr>
              <a:t>AUTHORIZATION CHECKS</a:t>
            </a:r>
          </a:p>
        </p:txBody>
      </p:sp>
      <p:sp>
        <p:nvSpPr>
          <p:cNvPr id="9" name="risk-divider">
            <a:extLst xmlns:a="http://schemas.openxmlformats.org/drawingml/2006/main">
              <a:ext uri="{FF2B5EF4-FFF2-40B4-BE49-F238E27FC236}">
                <a16:creationId xmlns:a16="http://schemas.microsoft.com/office/drawing/2014/main" id="{FA0307B3-4E25-4D42-B50F-9C66BCB3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669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isk-group-SURVIVAL">
            <a:extLst xmlns:a="http://schemas.openxmlformats.org/drawingml/2006/main">
              <a:ext uri="{FF2B5EF4-FFF2-40B4-BE49-F238E27FC236}">
                <a16:creationId xmlns:a16="http://schemas.microsoft.com/office/drawing/2014/main" id="{41AF3605-AFB5-48A7-81E1-5F52D845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7E2B2"/>
                </a:solidFill>
              </a:defRPr>
            </a:pPr>
            <a:r>
              <a:rPr sz="1500" b="1" i="0">
                <a:solidFill>
                  <a:srgbClr val="57E2B2"/>
                </a:solidFill>
              </a:rPr>
              <a:t>SURVIVAL</a:t>
            </a:r>
          </a:p>
        </p:txBody>
      </p:sp>
      <p:sp>
        <p:nvSpPr>
          <p:cNvPr id="11" name="risk-index-1">
            <a:extLst xmlns:a="http://schemas.openxmlformats.org/drawingml/2006/main">
              <a:ext uri="{FF2B5EF4-FFF2-40B4-BE49-F238E27FC236}">
                <a16:creationId xmlns:a16="http://schemas.microsoft.com/office/drawing/2014/main" id="{FDDC1C43-4290-4AB7-BFCC-08BA6195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28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7E2B2"/>
                </a:solidFill>
              </a:defRPr>
            </a:pPr>
            <a:r>
              <a:rPr sz="1125" b="1" i="0">
                <a:solidFill>
                  <a:srgbClr val="57E2B2"/>
                </a:solidFill>
              </a:rPr>
              <a:t>01</a:t>
            </a:r>
          </a:p>
        </p:txBody>
      </p:sp>
      <p:sp>
        <p:nvSpPr>
          <p:cNvPr id="12" name="risk-item-1">
            <a:extLst xmlns:a="http://schemas.openxmlformats.org/drawingml/2006/main">
              <a:ext uri="{FF2B5EF4-FFF2-40B4-BE49-F238E27FC236}">
                <a16:creationId xmlns:a16="http://schemas.microsoft.com/office/drawing/2014/main" id="{840CC13F-ACEB-47CC-9E1C-71221B62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03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Paper-only invariant</a:t>
            </a:r>
          </a:p>
        </p:txBody>
      </p:sp>
      <p:sp>
        <p:nvSpPr>
          <p:cNvPr id="13" name="risk-index-2">
            <a:extLst xmlns:a="http://schemas.openxmlformats.org/drawingml/2006/main">
              <a:ext uri="{FF2B5EF4-FFF2-40B4-BE49-F238E27FC236}">
                <a16:creationId xmlns:a16="http://schemas.microsoft.com/office/drawing/2014/main" id="{A6967BE3-83E3-43DE-982A-25505BDB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7E2B2"/>
                </a:solidFill>
              </a:defRPr>
            </a:pPr>
            <a:r>
              <a:rPr sz="1125" b="1" i="0">
                <a:solidFill>
                  <a:srgbClr val="57E2B2"/>
                </a:solidFill>
              </a:rPr>
              <a:t>02</a:t>
            </a:r>
          </a:p>
        </p:txBody>
      </p:sp>
      <p:sp>
        <p:nvSpPr>
          <p:cNvPr id="14" name="risk-item-2">
            <a:extLst xmlns:a="http://schemas.openxmlformats.org/drawingml/2006/main">
              <a:ext uri="{FF2B5EF4-FFF2-40B4-BE49-F238E27FC236}">
                <a16:creationId xmlns:a16="http://schemas.microsoft.com/office/drawing/2014/main" id="{758D1D99-1AAC-4E38-8FD4-73961746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528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−1.5% daily circuit</a:t>
            </a:r>
          </a:p>
        </p:txBody>
      </p:sp>
      <p:sp>
        <p:nvSpPr>
          <p:cNvPr id="15" name="risk-index-3">
            <a:extLst xmlns:a="http://schemas.openxmlformats.org/drawingml/2006/main">
              <a:ext uri="{FF2B5EF4-FFF2-40B4-BE49-F238E27FC236}">
                <a16:creationId xmlns:a16="http://schemas.microsoft.com/office/drawing/2014/main" id="{2195A41E-E8DA-47FB-B134-470DE906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3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7E2B2"/>
                </a:solidFill>
              </a:defRPr>
            </a:pPr>
            <a:r>
              <a:rPr sz="1125" b="1" i="0">
                <a:solidFill>
                  <a:srgbClr val="57E2B2"/>
                </a:solidFill>
              </a:rPr>
              <a:t>03</a:t>
            </a:r>
          </a:p>
        </p:txBody>
      </p:sp>
      <p:sp>
        <p:nvSpPr>
          <p:cNvPr id="16" name="risk-item-3">
            <a:extLst xmlns:a="http://schemas.openxmlformats.org/drawingml/2006/main">
              <a:ext uri="{FF2B5EF4-FFF2-40B4-BE49-F238E27FC236}">
                <a16:creationId xmlns:a16="http://schemas.microsoft.com/office/drawing/2014/main" id="{FF5BE130-5358-46B0-A412-26921330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052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2.5% portfolio risk</a:t>
            </a:r>
          </a:p>
        </p:txBody>
      </p:sp>
      <p:sp>
        <p:nvSpPr>
          <p:cNvPr id="17" name="risk-index-4">
            <a:extLst xmlns:a="http://schemas.openxmlformats.org/drawingml/2006/main">
              <a:ext uri="{FF2B5EF4-FFF2-40B4-BE49-F238E27FC236}">
                <a16:creationId xmlns:a16="http://schemas.microsoft.com/office/drawing/2014/main" id="{61D12713-A295-4583-897B-3E24A3CA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86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7E2B2"/>
                </a:solidFill>
              </a:defRPr>
            </a:pPr>
            <a:r>
              <a:rPr sz="1125" b="1" i="0">
                <a:solidFill>
                  <a:srgbClr val="57E2B2"/>
                </a:solidFill>
              </a:rPr>
              <a:t>04</a:t>
            </a:r>
          </a:p>
        </p:txBody>
      </p:sp>
      <p:sp>
        <p:nvSpPr>
          <p:cNvPr id="18" name="risk-item-4">
            <a:extLst xmlns:a="http://schemas.openxmlformats.org/drawingml/2006/main">
              <a:ext uri="{FF2B5EF4-FFF2-40B4-BE49-F238E27FC236}">
                <a16:creationId xmlns:a16="http://schemas.microsoft.com/office/drawing/2014/main" id="{6604352D-ECB8-495A-AD27-7463B77F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577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Maximum 3 spreads</a:t>
            </a:r>
          </a:p>
        </p:txBody>
      </p:sp>
      <p:sp>
        <p:nvSpPr>
          <p:cNvPr id="19" name="risk-group-TRADE QUALITY">
            <a:extLst xmlns:a="http://schemas.openxmlformats.org/drawingml/2006/main">
              <a:ext uri="{FF2B5EF4-FFF2-40B4-BE49-F238E27FC236}">
                <a16:creationId xmlns:a16="http://schemas.microsoft.com/office/drawing/2014/main" id="{7C72709D-FCA2-497F-A782-AF21B31B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19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ED4FF"/>
                </a:solidFill>
              </a:defRPr>
            </a:pPr>
            <a:r>
              <a:rPr sz="1500" b="1" i="0">
                <a:solidFill>
                  <a:srgbClr val="5ED4FF"/>
                </a:solidFill>
              </a:rPr>
              <a:t>TRADE QUALITY</a:t>
            </a:r>
          </a:p>
        </p:txBody>
      </p:sp>
      <p:sp>
        <p:nvSpPr>
          <p:cNvPr id="20" name="risk-index-5">
            <a:extLst xmlns:a="http://schemas.openxmlformats.org/drawingml/2006/main">
              <a:ext uri="{FF2B5EF4-FFF2-40B4-BE49-F238E27FC236}">
                <a16:creationId xmlns:a16="http://schemas.microsoft.com/office/drawing/2014/main" id="{7617D080-2C50-42CC-9690-4CD7FFB6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D4FF"/>
                </a:solidFill>
              </a:defRPr>
            </a:pPr>
            <a:r>
              <a:rPr sz="1125" b="1" i="0">
                <a:solidFill>
                  <a:srgbClr val="5ED4FF"/>
                </a:solidFill>
              </a:rPr>
              <a:t>05</a:t>
            </a:r>
          </a:p>
        </p:txBody>
      </p:sp>
      <p:sp>
        <p:nvSpPr>
          <p:cNvPr id="21" name="risk-item-5">
            <a:extLst xmlns:a="http://schemas.openxmlformats.org/drawingml/2006/main">
              <a:ext uri="{FF2B5EF4-FFF2-40B4-BE49-F238E27FC236}">
                <a16:creationId xmlns:a16="http://schemas.microsoft.com/office/drawing/2014/main" id="{BF9A4DA3-CF3A-4DAE-BE60-6539A427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003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≥62% confidence</a:t>
            </a:r>
          </a:p>
        </p:txBody>
      </p:sp>
      <p:sp>
        <p:nvSpPr>
          <p:cNvPr id="22" name="risk-index-6">
            <a:extLst xmlns:a="http://schemas.openxmlformats.org/drawingml/2006/main">
              <a:ext uri="{FF2B5EF4-FFF2-40B4-BE49-F238E27FC236}">
                <a16:creationId xmlns:a16="http://schemas.microsoft.com/office/drawing/2014/main" id="{D05014D3-E441-40D2-9422-EF383B7D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81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D4FF"/>
                </a:solidFill>
              </a:defRPr>
            </a:pPr>
            <a:r>
              <a:rPr sz="1125" b="1" i="0">
                <a:solidFill>
                  <a:srgbClr val="5ED4FF"/>
                </a:solidFill>
              </a:rPr>
              <a:t>06</a:t>
            </a:r>
          </a:p>
        </p:txBody>
      </p:sp>
      <p:sp>
        <p:nvSpPr>
          <p:cNvPr id="23" name="risk-item-6">
            <a:extLst xmlns:a="http://schemas.openxmlformats.org/drawingml/2006/main">
              <a:ext uri="{FF2B5EF4-FFF2-40B4-BE49-F238E27FC236}">
                <a16:creationId xmlns:a16="http://schemas.microsoft.com/office/drawing/2014/main" id="{89580DF5-FA1F-4E76-AF7F-BDD06B4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528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≥60% agreement</a:t>
            </a:r>
          </a:p>
        </p:txBody>
      </p:sp>
      <p:sp>
        <p:nvSpPr>
          <p:cNvPr id="24" name="risk-index-7">
            <a:extLst xmlns:a="http://schemas.openxmlformats.org/drawingml/2006/main">
              <a:ext uri="{FF2B5EF4-FFF2-40B4-BE49-F238E27FC236}">
                <a16:creationId xmlns:a16="http://schemas.microsoft.com/office/drawing/2014/main" id="{C983962E-AA50-498E-8B13-265B2DF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D4FF"/>
                </a:solidFill>
              </a:defRPr>
            </a:pPr>
            <a:r>
              <a:rPr sz="1125" b="1" i="0">
                <a:solidFill>
                  <a:srgbClr val="5ED4FF"/>
                </a:solidFill>
              </a:rPr>
              <a:t>07</a:t>
            </a:r>
          </a:p>
        </p:txBody>
      </p:sp>
      <p:sp>
        <p:nvSpPr>
          <p:cNvPr id="25" name="risk-item-7">
            <a:extLst xmlns:a="http://schemas.openxmlformats.org/drawingml/2006/main">
              <a:ext uri="{FF2B5EF4-FFF2-40B4-BE49-F238E27FC236}">
                <a16:creationId xmlns:a16="http://schemas.microsoft.com/office/drawing/2014/main" id="{BB6CBCB2-478A-4F21-841F-7273013F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1052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Liquidity threshold</a:t>
            </a:r>
          </a:p>
        </p:txBody>
      </p:sp>
      <p:sp>
        <p:nvSpPr>
          <p:cNvPr id="26" name="risk-index-8">
            <a:extLst xmlns:a="http://schemas.openxmlformats.org/drawingml/2006/main">
              <a:ext uri="{FF2B5EF4-FFF2-40B4-BE49-F238E27FC236}">
                <a16:creationId xmlns:a16="http://schemas.microsoft.com/office/drawing/2014/main" id="{21677121-41FE-47B7-BBBD-B0072F8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86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D4FF"/>
                </a:solidFill>
              </a:defRPr>
            </a:pPr>
            <a:r>
              <a:rPr sz="1125" b="1" i="0">
                <a:solidFill>
                  <a:srgbClr val="5ED4FF"/>
                </a:solidFill>
              </a:rPr>
              <a:t>08</a:t>
            </a:r>
          </a:p>
        </p:txBody>
      </p:sp>
      <p:sp>
        <p:nvSpPr>
          <p:cNvPr id="27" name="risk-item-8">
            <a:extLst xmlns:a="http://schemas.openxmlformats.org/drawingml/2006/main">
              <a:ext uri="{FF2B5EF4-FFF2-40B4-BE49-F238E27FC236}">
                <a16:creationId xmlns:a16="http://schemas.microsoft.com/office/drawing/2014/main" id="{028A9C40-6041-4F46-8E92-3ACD0818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6577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≥0.60× reward/risk</a:t>
            </a:r>
          </a:p>
        </p:txBody>
      </p:sp>
      <p:sp>
        <p:nvSpPr>
          <p:cNvPr id="28" name="risk-group-INTEGRITY">
            <a:extLst xmlns:a="http://schemas.openxmlformats.org/drawingml/2006/main">
              <a:ext uri="{FF2B5EF4-FFF2-40B4-BE49-F238E27FC236}">
                <a16:creationId xmlns:a16="http://schemas.microsoft.com/office/drawing/2014/main" id="{607B6E91-EA21-475A-87EC-0114927F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19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FF66"/>
                </a:solidFill>
              </a:defRPr>
            </a:pPr>
            <a:r>
              <a:rPr sz="1500" b="1" i="0">
                <a:solidFill>
                  <a:srgbClr val="B9FF66"/>
                </a:solidFill>
              </a:rPr>
              <a:t>INTEGRITY</a:t>
            </a:r>
          </a:p>
        </p:txBody>
      </p:sp>
      <p:sp>
        <p:nvSpPr>
          <p:cNvPr id="29" name="risk-index-9">
            <a:extLst xmlns:a="http://schemas.openxmlformats.org/drawingml/2006/main">
              <a:ext uri="{FF2B5EF4-FFF2-40B4-BE49-F238E27FC236}">
                <a16:creationId xmlns:a16="http://schemas.microsoft.com/office/drawing/2014/main" id="{DAEAF91A-F8BE-4DB9-ADD9-D053A986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8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FF66"/>
                </a:solidFill>
              </a:defRPr>
            </a:pPr>
            <a:r>
              <a:rPr sz="1125" b="1" i="0">
                <a:solidFill>
                  <a:srgbClr val="B9FF66"/>
                </a:solidFill>
              </a:rPr>
              <a:t>09</a:t>
            </a:r>
          </a:p>
        </p:txBody>
      </p:sp>
      <p:sp>
        <p:nvSpPr>
          <p:cNvPr id="30" name="risk-item-9">
            <a:extLst xmlns:a="http://schemas.openxmlformats.org/drawingml/2006/main">
              <a:ext uri="{FF2B5EF4-FFF2-40B4-BE49-F238E27FC236}">
                <a16:creationId xmlns:a16="http://schemas.microsoft.com/office/drawing/2014/main" id="{E6927536-A08C-48D7-8CCA-367C032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03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Market session open</a:t>
            </a:r>
          </a:p>
        </p:txBody>
      </p:sp>
      <p:sp>
        <p:nvSpPr>
          <p:cNvPr id="31" name="risk-index-10">
            <a:extLst xmlns:a="http://schemas.openxmlformats.org/drawingml/2006/main">
              <a:ext uri="{FF2B5EF4-FFF2-40B4-BE49-F238E27FC236}">
                <a16:creationId xmlns:a16="http://schemas.microsoft.com/office/drawing/2014/main" id="{5C0B6152-9CEE-4FF1-8646-3268CFA8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FF66"/>
                </a:solidFill>
              </a:defRPr>
            </a:pPr>
            <a:r>
              <a:rPr sz="1125" b="1" i="0">
                <a:solidFill>
                  <a:srgbClr val="B9FF66"/>
                </a:solidFill>
              </a:rPr>
              <a:t>10</a:t>
            </a:r>
          </a:p>
        </p:txBody>
      </p:sp>
      <p:sp>
        <p:nvSpPr>
          <p:cNvPr id="32" name="risk-item-10">
            <a:extLst xmlns:a="http://schemas.openxmlformats.org/drawingml/2006/main">
              <a:ext uri="{FF2B5EF4-FFF2-40B4-BE49-F238E27FC236}">
                <a16:creationId xmlns:a16="http://schemas.microsoft.com/office/drawing/2014/main" id="{DFCA590A-8FCC-41EB-BBBF-CA94118D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528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No duplicate exposure</a:t>
            </a:r>
          </a:p>
        </p:txBody>
      </p:sp>
      <p:sp>
        <p:nvSpPr>
          <p:cNvPr id="33" name="risk-index-11">
            <a:extLst xmlns:a="http://schemas.openxmlformats.org/drawingml/2006/main">
              <a:ext uri="{FF2B5EF4-FFF2-40B4-BE49-F238E27FC236}">
                <a16:creationId xmlns:a16="http://schemas.microsoft.com/office/drawing/2014/main" id="{6906B824-974F-4D2A-B81F-10A80606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9FF66"/>
                </a:solidFill>
              </a:defRPr>
            </a:pPr>
            <a:r>
              <a:rPr sz="1125" b="1" i="0">
                <a:solidFill>
                  <a:srgbClr val="B9FF66"/>
                </a:solidFill>
              </a:rPr>
              <a:t>11</a:t>
            </a:r>
          </a:p>
        </p:txBody>
      </p:sp>
      <p:sp>
        <p:nvSpPr>
          <p:cNvPr id="34" name="risk-item-11">
            <a:extLst xmlns:a="http://schemas.openxmlformats.org/drawingml/2006/main">
              <a:ext uri="{FF2B5EF4-FFF2-40B4-BE49-F238E27FC236}">
                <a16:creationId xmlns:a16="http://schemas.microsoft.com/office/drawing/2014/main" id="{453DB4BD-3B3F-4A32-9621-CCEE387C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0527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7F4"/>
                </a:solidFill>
              </a:defRPr>
            </a:pPr>
            <a:r>
              <a:rPr sz="1425" b="0" i="0">
                <a:solidFill>
                  <a:srgbClr val="F3F7F4"/>
                </a:solidFill>
              </a:rPr>
              <a:t>0.6% trade sizing</a:t>
            </a:r>
          </a:p>
        </p:txBody>
      </p:sp>
      <p:sp>
        <p:nvSpPr>
          <p:cNvPr id="35" name="risk-footer-claim">
            <a:extLst xmlns:a="http://schemas.openxmlformats.org/drawingml/2006/main">
              <a:ext uri="{FF2B5EF4-FFF2-40B4-BE49-F238E27FC236}">
                <a16:creationId xmlns:a16="http://schemas.microsoft.com/office/drawing/2014/main" id="{EF35C10B-0E37-45AC-B382-E1C87C1B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673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950" b="1" i="0">
                <a:solidFill>
                  <a:srgbClr val="FF7C72"/>
                </a:solidFill>
              </a:defRPr>
            </a:pPr>
            <a:r>
              <a:rPr sz="1950" b="1" i="0">
                <a:solidFill>
                  <a:srgbClr val="FF7C72"/>
                </a:solidFill>
              </a:rPr>
              <a:t>One failed gate → zero quantity → timestamped veto.</a:t>
            </a:r>
          </a:p>
        </p:txBody>
      </p:sp>
    </p:spTree>
    <p:extLst>
      <p:ext uri="{BB962C8B-B14F-4D97-AF65-F5344CB8AC3E}">
        <p14:creationId xmlns:p14="http://schemas.microsoft.com/office/powerpoint/2010/main" val="7926573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8">
            <a:extLst xmlns:a="http://schemas.openxmlformats.org/drawingml/2006/main">
              <a:ext uri="{FF2B5EF4-FFF2-40B4-BE49-F238E27FC236}">
                <a16:creationId xmlns:a16="http://schemas.microsoft.com/office/drawing/2014/main" id="{AA31BF63-CA0B-48DC-A605-3D499300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7E2B2"/>
                </a:solidFill>
              </a:defRPr>
            </a:pPr>
            <a:r>
              <a:rPr sz="975" b="1" i="0">
                <a:solidFill>
                  <a:srgbClr val="57E2B2"/>
                </a:solidFill>
              </a:rPr>
              <a:t>ALPACA IMPLEMENTATION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B1EE4E1C-B78C-427E-9D92-34D6BFDB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DA198"/>
                </a:solidFill>
              </a:defRPr>
            </a:pPr>
            <a:r>
              <a:rPr sz="975" b="1" i="0">
                <a:solidFill>
                  <a:srgbClr val="8DA198"/>
                </a:solidFill>
              </a:rPr>
              <a:t>08</a:t>
            </a:r>
          </a:p>
        </p:txBody>
      </p:sp>
      <p:sp>
        <p:nvSpPr>
          <p:cNvPr id="3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9ECC0A7-D583-4CF9-9373-D1F50DEA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FF6132A9-F869-4E78-874F-B719A59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DA198"/>
                </a:solidFill>
              </a:defRPr>
            </a:pPr>
            <a:r>
              <a:rPr sz="750" b="1" i="0">
                <a:solidFill>
                  <a:srgbClr val="8DA198"/>
                </a:solidFill>
              </a:rPr>
              <a:t>CLOUDRISE  ·  PAPER ONLY</a:t>
            </a:r>
          </a:p>
        </p:txBody>
      </p:sp>
      <p:sp>
        <p:nvSpPr>
          <p:cNvPr id="5" name="title-8">
            <a:extLst xmlns:a="http://schemas.openxmlformats.org/drawingml/2006/main">
              <a:ext uri="{FF2B5EF4-FFF2-40B4-BE49-F238E27FC236}">
                <a16:creationId xmlns:a16="http://schemas.microsoft.com/office/drawing/2014/main" id="{67FD7EAE-C761-4672-A6DA-8226A24F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1071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3F7F4"/>
                </a:solidFill>
              </a:defRPr>
            </a:pPr>
            <a:r>
              <a:rPr sz="3675" b="1" i="0">
                <a:solidFill>
                  <a:srgbClr val="F3F7F4"/>
                </a:solidFill>
              </a:rPr>
              <a:t>Alpaca’s CLI is the control plane.</a:t>
            </a:r>
          </a:p>
        </p:txBody>
      </p:sp>
      <p:sp>
        <p:nvSpPr>
          <p:cNvPr id="6" name="subtitle-8">
            <a:extLst xmlns:a="http://schemas.openxmlformats.org/drawingml/2006/main">
              <a:ext uri="{FF2B5EF4-FFF2-40B4-BE49-F238E27FC236}">
                <a16:creationId xmlns:a16="http://schemas.microsoft.com/office/drawing/2014/main" id="{25334278-2856-47AD-8AB5-34D27979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The Trading API is the execution rail; structured JSON keeps every interaction auditable.</a:t>
            </a:r>
          </a:p>
        </p:txBody>
      </p:sp>
      <p:sp>
        <p:nvSpPr>
          <p:cNvPr id="7" name="alpaca-rail">
            <a:extLst xmlns:a="http://schemas.openxmlformats.org/drawingml/2006/main">
              <a:ext uri="{FF2B5EF4-FFF2-40B4-BE49-F238E27FC236}">
                <a16:creationId xmlns:a16="http://schemas.microsoft.com/office/drawing/2014/main" id="{4AEEA613-85E7-4AA1-8D5B-ADF79D7E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909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lpaca-dot-0">
            <a:extLst xmlns:a="http://schemas.openxmlformats.org/drawingml/2006/main">
              <a:ext uri="{FF2B5EF4-FFF2-40B4-BE49-F238E27FC236}">
                <a16:creationId xmlns:a16="http://schemas.microsoft.com/office/drawing/2014/main" id="{FB314E1F-B15A-49A7-B2E1-1ABED8FF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14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2B2"/>
          </a:solidFill>
          <a:ln xmlns:a="http://schemas.openxmlformats.org/drawingml/2006/main" w="38100">
            <a:solidFill>
              <a:srgbClr val="07100D"/>
            </a:solidFill>
            <a:prstDash val="solid"/>
          </a:ln>
        </p:spPr>
      </p:sp>
      <p:sp>
        <p:nvSpPr>
          <p:cNvPr id="9" name="alpaca-title-0">
            <a:extLst xmlns:a="http://schemas.openxmlformats.org/drawingml/2006/main">
              <a:ext uri="{FF2B5EF4-FFF2-40B4-BE49-F238E27FC236}">
                <a16:creationId xmlns:a16="http://schemas.microsoft.com/office/drawing/2014/main" id="{3A48B697-096B-4991-BE12-F28FCE3A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7E2B2"/>
                </a:solidFill>
              </a:defRPr>
            </a:pPr>
            <a:r>
              <a:rPr sz="1575" b="1" i="0">
                <a:solidFill>
                  <a:srgbClr val="57E2B2"/>
                </a:solidFill>
              </a:rPr>
              <a:t>MARKET DATA</a:t>
            </a:r>
          </a:p>
        </p:txBody>
      </p:sp>
      <p:sp>
        <p:nvSpPr>
          <p:cNvPr id="10" name="alpaca-body-0">
            <a:extLst xmlns:a="http://schemas.openxmlformats.org/drawingml/2006/main">
              <a:ext uri="{FF2B5EF4-FFF2-40B4-BE49-F238E27FC236}">
                <a16:creationId xmlns:a16="http://schemas.microsoft.com/office/drawing/2014/main" id="{0388FE94-6DE9-4D9E-BCD5-514B2F9F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8DA198"/>
                </a:solidFill>
              </a:defRPr>
            </a:pPr>
            <a:r>
              <a:rPr sz="1425" b="0" i="0">
                <a:solidFill>
                  <a:srgbClr val="8DA198"/>
                </a:solidFill>
              </a:rPr>
              <a:t>15m IEX bars</a:t>
            </a:r>
          </a:p>
          <a:p xmlns:a="http://schemas.openxmlformats.org/drawingml/2006/main">
            <a:pPr algn="ctr">
              <a:defRPr sz="1425" b="0" i="0">
                <a:solidFill>
                  <a:srgbClr val="8DA198"/>
                </a:solidFill>
              </a:defRPr>
            </a:pPr>
            <a:r>
              <a:rPr sz="1425" b="0" i="0">
                <a:solidFill>
                  <a:srgbClr val="8DA198"/>
                </a:solidFill>
              </a:rPr>
              <a:t>Indicative option chain</a:t>
            </a:r>
          </a:p>
        </p:txBody>
      </p:sp>
      <p:sp>
        <p:nvSpPr>
          <p:cNvPr id="11" name="alpaca-dot-1">
            <a:extLst xmlns:a="http://schemas.openxmlformats.org/drawingml/2006/main">
              <a:ext uri="{FF2B5EF4-FFF2-40B4-BE49-F238E27FC236}">
                <a16:creationId xmlns:a16="http://schemas.microsoft.com/office/drawing/2014/main" id="{C645D746-7F12-40D5-922B-A7125CAF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14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D4FF"/>
          </a:solidFill>
          <a:ln xmlns:a="http://schemas.openxmlformats.org/drawingml/2006/main" w="38100">
            <a:solidFill>
              <a:srgbClr val="07100D"/>
            </a:solidFill>
            <a:prstDash val="solid"/>
          </a:ln>
        </p:spPr>
      </p:sp>
      <p:sp>
        <p:nvSpPr>
          <p:cNvPr id="12" name="alpaca-title-1">
            <a:extLst xmlns:a="http://schemas.openxmlformats.org/drawingml/2006/main">
              <a:ext uri="{FF2B5EF4-FFF2-40B4-BE49-F238E27FC236}">
                <a16:creationId xmlns:a16="http://schemas.microsoft.com/office/drawing/2014/main" id="{64AF6588-1E51-4D20-B40D-5137E7FC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D4FF"/>
                </a:solidFill>
              </a:defRPr>
            </a:pPr>
            <a:r>
              <a:rPr sz="1575" b="1" i="0">
                <a:solidFill>
                  <a:srgbClr val="5ED4FF"/>
                </a:solidFill>
              </a:rPr>
              <a:t>CLI SYNC</a:t>
            </a:r>
          </a:p>
        </p:txBody>
      </p:sp>
      <p:sp>
        <p:nvSpPr>
          <p:cNvPr id="13" name="alpaca-body-1">
            <a:extLst xmlns:a="http://schemas.openxmlformats.org/drawingml/2006/main">
              <a:ext uri="{FF2B5EF4-FFF2-40B4-BE49-F238E27FC236}">
                <a16:creationId xmlns:a16="http://schemas.microsoft.com/office/drawing/2014/main" id="{90CC0B0E-D9E3-4086-A4C9-C4255CA3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8DA198"/>
                </a:solidFill>
              </a:defRPr>
            </a:pPr>
            <a:r>
              <a:rPr sz="1425" b="0" i="0">
                <a:solidFill>
                  <a:srgbClr val="8DA198"/>
                </a:solidFill>
              </a:rPr>
              <a:t>Account · clock</a:t>
            </a:r>
          </a:p>
          <a:p xmlns:a="http://schemas.openxmlformats.org/drawingml/2006/main">
            <a:pPr algn="ctr">
              <a:defRPr sz="1425" b="0" i="0">
                <a:solidFill>
                  <a:srgbClr val="8DA198"/>
                </a:solidFill>
              </a:defRPr>
            </a:pPr>
            <a:r>
              <a:rPr sz="1425" b="0" i="0">
                <a:solidFill>
                  <a:srgbClr val="8DA198"/>
                </a:solidFill>
              </a:rPr>
              <a:t>positions · orders</a:t>
            </a:r>
          </a:p>
        </p:txBody>
      </p:sp>
      <p:sp>
        <p:nvSpPr>
          <p:cNvPr id="14" name="alpaca-dot-2">
            <a:extLst xmlns:a="http://schemas.openxmlformats.org/drawingml/2006/main">
              <a:ext uri="{FF2B5EF4-FFF2-40B4-BE49-F238E27FC236}">
                <a16:creationId xmlns:a16="http://schemas.microsoft.com/office/drawing/2014/main" id="{AB729D24-A10F-4DD7-86DC-2DFFDABF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14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38100">
            <a:solidFill>
              <a:srgbClr val="07100D"/>
            </a:solidFill>
            <a:prstDash val="solid"/>
          </a:ln>
        </p:spPr>
      </p:sp>
      <p:sp>
        <p:nvSpPr>
          <p:cNvPr id="15" name="alpaca-title-2">
            <a:extLst xmlns:a="http://schemas.openxmlformats.org/drawingml/2006/main">
              <a:ext uri="{FF2B5EF4-FFF2-40B4-BE49-F238E27FC236}">
                <a16:creationId xmlns:a16="http://schemas.microsoft.com/office/drawing/2014/main" id="{D5B95EF0-1B15-416F-A5DA-4B53568A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9FF66"/>
                </a:solidFill>
              </a:defRPr>
            </a:pPr>
            <a:r>
              <a:rPr sz="1575" b="1" i="0">
                <a:solidFill>
                  <a:srgbClr val="B9FF66"/>
                </a:solidFill>
              </a:rPr>
              <a:t>RISK AUTH</a:t>
            </a:r>
          </a:p>
        </p:txBody>
      </p:sp>
      <p:sp>
        <p:nvSpPr>
          <p:cNvPr id="16" name="alpaca-body-2">
            <a:extLst xmlns:a="http://schemas.openxmlformats.org/drawingml/2006/main">
              <a:ext uri="{FF2B5EF4-FFF2-40B4-BE49-F238E27FC236}">
                <a16:creationId xmlns:a16="http://schemas.microsoft.com/office/drawing/2014/main" id="{396797A8-70AF-43DE-BA5E-21BA2B00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8DA198"/>
                </a:solidFill>
              </a:defRPr>
            </a:pPr>
            <a:r>
              <a:rPr sz="1425" b="0" i="0">
                <a:solidFill>
                  <a:srgbClr val="8DA198"/>
                </a:solidFill>
              </a:rPr>
              <a:t>MLeg preview</a:t>
            </a:r>
          </a:p>
          <a:p xmlns:a="http://schemas.openxmlformats.org/drawingml/2006/main">
            <a:pPr algn="ctr">
              <a:defRPr sz="1425" b="0" i="0">
                <a:solidFill>
                  <a:srgbClr val="8DA198"/>
                </a:solidFill>
              </a:defRPr>
            </a:pPr>
            <a:r>
              <a:rPr sz="1425" b="0" i="0">
                <a:solidFill>
                  <a:srgbClr val="8DA198"/>
                </a:solidFill>
              </a:rPr>
              <a:t>unique client ID</a:t>
            </a:r>
          </a:p>
        </p:txBody>
      </p:sp>
      <p:sp>
        <p:nvSpPr>
          <p:cNvPr id="17" name="alpaca-dot-3">
            <a:extLst xmlns:a="http://schemas.openxmlformats.org/drawingml/2006/main">
              <a:ext uri="{FF2B5EF4-FFF2-40B4-BE49-F238E27FC236}">
                <a16:creationId xmlns:a16="http://schemas.microsoft.com/office/drawing/2014/main" id="{7ED59398-302D-4FE9-8B2F-D54830FF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14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7F4"/>
          </a:solidFill>
          <a:ln xmlns:a="http://schemas.openxmlformats.org/drawingml/2006/main" w="38100">
            <a:solidFill>
              <a:srgbClr val="07100D"/>
            </a:solidFill>
            <a:prstDash val="solid"/>
          </a:ln>
        </p:spPr>
      </p:sp>
      <p:sp>
        <p:nvSpPr>
          <p:cNvPr id="18" name="alpaca-title-3">
            <a:extLst xmlns:a="http://schemas.openxmlformats.org/drawingml/2006/main">
              <a:ext uri="{FF2B5EF4-FFF2-40B4-BE49-F238E27FC236}">
                <a16:creationId xmlns:a16="http://schemas.microsoft.com/office/drawing/2014/main" id="{91372EC8-9E5B-4CAF-968C-8A028374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28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3F7F4"/>
                </a:solidFill>
              </a:defRPr>
            </a:pPr>
            <a:r>
              <a:rPr sz="1575" b="1" i="0">
                <a:solidFill>
                  <a:srgbClr val="F3F7F4"/>
                </a:solidFill>
              </a:rPr>
              <a:t>PAPER ORDER</a:t>
            </a:r>
          </a:p>
        </p:txBody>
      </p:sp>
      <p:sp>
        <p:nvSpPr>
          <p:cNvPr id="19" name="alpaca-body-3">
            <a:extLst xmlns:a="http://schemas.openxmlformats.org/drawingml/2006/main">
              <a:ext uri="{FF2B5EF4-FFF2-40B4-BE49-F238E27FC236}">
                <a16:creationId xmlns:a16="http://schemas.microsoft.com/office/drawing/2014/main" id="{B8731A1C-3303-4B85-8CFA-517F580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8DA198"/>
                </a:solidFill>
              </a:defRPr>
            </a:pPr>
            <a:r>
              <a:rPr sz="1425" b="0" i="0">
                <a:solidFill>
                  <a:srgbClr val="8DA198"/>
                </a:solidFill>
              </a:rPr>
              <a:t>POST /v2/orders</a:t>
            </a:r>
          </a:p>
          <a:p xmlns:a="http://schemas.openxmlformats.org/drawingml/2006/main">
            <a:pPr algn="ctr">
              <a:defRPr sz="1425" b="0" i="0">
                <a:solidFill>
                  <a:srgbClr val="8DA198"/>
                </a:solidFill>
              </a:defRPr>
            </a:pPr>
            <a:r>
              <a:rPr sz="1425" b="0" i="0">
                <a:solidFill>
                  <a:srgbClr val="8DA198"/>
                </a:solidFill>
              </a:rPr>
              <a:t>atomic spread</a:t>
            </a:r>
          </a:p>
        </p:txBody>
      </p:sp>
      <p:sp>
        <p:nvSpPr>
          <p:cNvPr id="20" name="alpaca-paper-lock">
            <a:extLst xmlns:a="http://schemas.openxmlformats.org/drawingml/2006/main">
              <a:ext uri="{FF2B5EF4-FFF2-40B4-BE49-F238E27FC236}">
                <a16:creationId xmlns:a16="http://schemas.microsoft.com/office/drawing/2014/main" id="{D303CB92-3010-4E78-9D46-8D87469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219700"/>
            <a:ext cx="485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B9FF66"/>
                </a:solidFill>
              </a:defRPr>
            </a:pPr>
            <a:r>
              <a:rPr sz="2325" b="1" i="0">
                <a:solidFill>
                  <a:srgbClr val="B9FF66"/>
                </a:solidFill>
              </a:rPr>
              <a:t>ALPACA_LIVE_TRADE = false</a:t>
            </a:r>
          </a:p>
        </p:txBody>
      </p:sp>
      <p:sp>
        <p:nvSpPr>
          <p:cNvPr id="21" name="alpaca-security">
            <a:extLst xmlns:a="http://schemas.openxmlformats.org/drawingml/2006/main">
              <a:ext uri="{FF2B5EF4-FFF2-40B4-BE49-F238E27FC236}">
                <a16:creationId xmlns:a16="http://schemas.microsoft.com/office/drawing/2014/main" id="{51193835-31D3-46D0-AC05-37945742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29300"/>
            <a:ext cx="771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8DA198"/>
                </a:solidFill>
              </a:defRPr>
            </a:pPr>
            <a:r>
              <a:rPr sz="1500" b="0" i="0">
                <a:solidFill>
                  <a:srgbClr val="8DA198"/>
                </a:solidFill>
              </a:rPr>
              <a:t>Credentials stay in process environment — never in UI, source, or ledger.</a:t>
            </a:r>
          </a:p>
        </p:txBody>
      </p:sp>
    </p:spTree>
    <p:extLst>
      <p:ext uri="{BB962C8B-B14F-4D97-AF65-F5344CB8AC3E}">
        <p14:creationId xmlns:p14="http://schemas.microsoft.com/office/powerpoint/2010/main" val="376265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9">
            <a:extLst xmlns:a="http://schemas.openxmlformats.org/drawingml/2006/main">
              <a:ext uri="{FF2B5EF4-FFF2-40B4-BE49-F238E27FC236}">
                <a16:creationId xmlns:a16="http://schemas.microsoft.com/office/drawing/2014/main" id="{7DED7297-6FB7-44A5-8BAD-1656A03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7E2B2"/>
                </a:solidFill>
              </a:defRPr>
            </a:pPr>
            <a:r>
              <a:rPr sz="975" b="1" i="0">
                <a:solidFill>
                  <a:srgbClr val="57E2B2"/>
                </a:solidFill>
              </a:rPr>
              <a:t>PRODUCT PROOF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33F6E101-1362-42EC-B9B4-1C4124D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8DA198"/>
                </a:solidFill>
              </a:defRPr>
            </a:pPr>
            <a:r>
              <a:rPr sz="975" b="1" i="0">
                <a:solidFill>
                  <a:srgbClr val="8DA198"/>
                </a:solidFill>
              </a:rPr>
              <a:t>09</a:t>
            </a:r>
          </a:p>
        </p:txBody>
      </p:sp>
      <p:sp>
        <p:nvSpPr>
          <p:cNvPr id="3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E625FF59-A8DB-454E-B41C-60300A76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8B50F986-70E1-46F2-AFFD-465FD89E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4367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DA198"/>
                </a:solidFill>
              </a:defRPr>
            </a:pPr>
            <a:r>
              <a:rPr sz="750" b="1" i="0">
                <a:solidFill>
                  <a:srgbClr val="8DA198"/>
                </a:solidFill>
              </a:rPr>
              <a:t>CLOUDRISE  ·  PAPER ONLY</a:t>
            </a:r>
          </a:p>
        </p:txBody>
      </p:sp>
      <p:sp>
        <p:nvSpPr>
          <p:cNvPr id="5" name="proof-title">
            <a:extLst xmlns:a="http://schemas.openxmlformats.org/drawingml/2006/main">
              <a:ext uri="{FF2B5EF4-FFF2-40B4-BE49-F238E27FC236}">
                <a16:creationId xmlns:a16="http://schemas.microsoft.com/office/drawing/2014/main" id="{84512029-3C0B-4B50-9D23-9EF20D39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3F7F4"/>
                </a:solidFill>
              </a:defRPr>
            </a:pPr>
            <a:r>
              <a:rPr sz="3600" b="1" i="0">
                <a:solidFill>
                  <a:srgbClr val="F3F7F4"/>
                </a:solidFill>
              </a:rPr>
              <a:t>Every conclusion stays inspectable.</a:t>
            </a:r>
          </a:p>
        </p:txBody>
      </p:sp>
      <p:sp>
        <p:nvSpPr>
          <p:cNvPr id="6" name="proof-subtitle">
            <a:extLst xmlns:a="http://schemas.openxmlformats.org/drawingml/2006/main">
              <a:ext uri="{FF2B5EF4-FFF2-40B4-BE49-F238E27FC236}">
                <a16:creationId xmlns:a16="http://schemas.microsoft.com/office/drawing/2014/main" id="{8281C8C6-57EA-451F-B6FA-07BBDAAF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DA198"/>
                </a:solidFill>
              </a:defRPr>
            </a:pPr>
            <a:r>
              <a:rPr sz="1575" b="0" i="0">
                <a:solidFill>
                  <a:srgbClr val="8DA198"/>
                </a:solidFill>
              </a:rPr>
              <a:t>Paper equity, specialist votes, active gates, positions, and the append-only ledger share one judge-facing view.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d84da25df4977"/>
          <a:srcRect xmlns:a="http://schemas.openxmlformats.org/drawingml/2006/main" l="0" t="20831" r="0" b="20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114550"/>
            <a:ext cx="107061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8" name="proof-demo-label">
            <a:extLst xmlns:a="http://schemas.openxmlformats.org/drawingml/2006/main">
              <a:ext uri="{FF2B5EF4-FFF2-40B4-BE49-F238E27FC236}">
                <a16:creationId xmlns:a16="http://schemas.microsoft.com/office/drawing/2014/main" id="{D91F3095-F7D8-4B12-A830-C22537FB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53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9FF66"/>
                </a:solidFill>
              </a:defRPr>
            </a:pPr>
            <a:r>
              <a:rPr sz="975" b="1" i="0">
                <a:solidFill>
                  <a:srgbClr val="B9FF66"/>
                </a:solidFill>
              </a:rPr>
              <a:t>DEMO REPLAY SHOWN · REAL SUBMISSION USES THE FRESH ALPACA PAPER ACCOUNT</a:t>
            </a:r>
          </a:p>
        </p:txBody>
      </p:sp>
    </p:spTree>
    <p:extLst>
      <p:ext uri="{BB962C8B-B14F-4D97-AF65-F5344CB8AC3E}">
        <p14:creationId xmlns:p14="http://schemas.microsoft.com/office/powerpoint/2010/main" val="619582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f3436f4ab54169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left-field">
            <a:extLst xmlns:a="http://schemas.openxmlformats.org/drawingml/2006/main">
              <a:ext uri="{FF2B5EF4-FFF2-40B4-BE49-F238E27FC236}">
                <a16:creationId xmlns:a16="http://schemas.microsoft.com/office/drawing/2014/main" id="{3EAA0962-EFC2-4C0A-AA45-3AA544AF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ing-divider">
            <a:extLst xmlns:a="http://schemas.openxmlformats.org/drawingml/2006/main">
              <a:ext uri="{FF2B5EF4-FFF2-40B4-BE49-F238E27FC236}">
                <a16:creationId xmlns:a16="http://schemas.microsoft.com/office/drawing/2014/main" id="{86A7515A-F5F5-4982-B4AB-2F438C1D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952500"/>
            <a:ext cx="2857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E3AC46CB-1B17-4DA0-A783-BA55BE40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7E2B2"/>
                </a:solidFill>
              </a:defRPr>
            </a:pPr>
            <a:r>
              <a:rPr sz="1650" b="1" i="0">
                <a:solidFill>
                  <a:srgbClr val="57E2B2"/>
                </a:solidFill>
              </a:rPr>
              <a:t>CLOUDRISE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BB711A39-A614-4333-866A-5B58B829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14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F3F7F4"/>
                </a:solidFill>
              </a:defRPr>
            </a:pPr>
            <a:r>
              <a:rPr sz="5100" b="0" i="0">
                <a:solidFill>
                  <a:srgbClr val="F3F7F4"/>
                </a:solidFill>
              </a:rPr>
              <a:t>Conviction,</a:t>
            </a:r>
          </a:p>
          <a:p xmlns:a="http://schemas.openxmlformats.org/drawingml/2006/main">
            <a:pPr algn="l">
              <a:defRPr sz="5100" b="0" i="0">
                <a:solidFill>
                  <a:srgbClr val="F3F7F4"/>
                </a:solidFill>
              </a:defRPr>
            </a:pPr>
            <a:r>
              <a:rPr sz="5100" b="0" i="0">
                <a:solidFill>
                  <a:srgbClr val="F3F7F4"/>
                </a:solidFill>
              </a:rPr>
              <a:t>with guardrails.</a:t>
            </a:r>
          </a:p>
        </p:txBody>
      </p:sp>
      <p:sp>
        <p:nvSpPr>
          <p:cNvPr id="6" name="closing-answer">
            <a:extLst xmlns:a="http://schemas.openxmlformats.org/drawingml/2006/main">
              <a:ext uri="{FF2B5EF4-FFF2-40B4-BE49-F238E27FC236}">
                <a16:creationId xmlns:a16="http://schemas.microsoft.com/office/drawing/2014/main" id="{B5C0014C-391A-4210-8616-41F7BAE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524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FF66"/>
                </a:solidFill>
              </a:defRPr>
            </a:pPr>
            <a:r>
              <a:rPr sz="2025" b="1" i="0">
                <a:solidFill>
                  <a:srgbClr val="B9FF66"/>
                </a:solidFill>
              </a:rPr>
              <a:t>The agent finds the opportunity.</a:t>
            </a:r>
          </a:p>
          <a:p xmlns:a="http://schemas.openxmlformats.org/drawingml/2006/main">
            <a:pPr algn="l">
              <a:defRPr sz="2025" b="1" i="0">
                <a:solidFill>
                  <a:srgbClr val="B9FF66"/>
                </a:solidFill>
              </a:defRPr>
            </a:pPr>
            <a:r>
              <a:rPr sz="2025" b="1" i="0">
                <a:solidFill>
                  <a:srgbClr val="B9FF66"/>
                </a:solidFill>
              </a:rPr>
              <a:t>The governor earns the right to take it.</a:t>
            </a:r>
          </a:p>
        </p:txBody>
      </p:sp>
      <p:sp>
        <p:nvSpPr>
          <p:cNvPr id="7" name="closing-meta">
            <a:extLst xmlns:a="http://schemas.openxmlformats.org/drawingml/2006/main">
              <a:ext uri="{FF2B5EF4-FFF2-40B4-BE49-F238E27FC236}">
                <a16:creationId xmlns:a16="http://schemas.microsoft.com/office/drawing/2014/main" id="{398E1B5E-77AD-45A6-B88D-E893D700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7F4"/>
                </a:solidFill>
              </a:defRPr>
            </a:pPr>
            <a:r>
              <a:rPr sz="975" b="1" i="0">
                <a:solidFill>
                  <a:srgbClr val="F3F7F4"/>
                </a:solidFill>
              </a:rPr>
              <a:t>AUTONOMOUS · DEFINED RISK · AUDITABLE · MIT</a:t>
            </a:r>
          </a:p>
        </p:txBody>
      </p:sp>
    </p:spTree>
    <p:extLst>
      <p:ext uri="{BB962C8B-B14F-4D97-AF65-F5344CB8AC3E}">
        <p14:creationId xmlns:p14="http://schemas.microsoft.com/office/powerpoint/2010/main" val="1965997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2026-08-29T04:16:47.7270000Z</dcterms:created>
  <dcterms:modified xsi:type="dcterms:W3CDTF">2026-08-29T04:16:47.7270000Z</dcterms:modified>
</coreProperties>
</file>